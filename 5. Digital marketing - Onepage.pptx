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0692000" cx="7560000"/>
  <p:notesSz cx="6858000" cy="9144000"/>
  <p:embeddedFontLst>
    <p:embeddedFont>
      <p:font typeface="Roboto"/>
      <p:regular r:id="rId7"/>
      <p:bold r:id="rId8"/>
      <p:italic r:id="rId9"/>
      <p:boldItalic r:id="rId10"/>
    </p:embeddedFont>
    <p:embeddedFont>
      <p:font typeface="Google Sa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23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GoogleSans-regular.fntdata"/><Relationship Id="rId10" Type="http://schemas.openxmlformats.org/officeDocument/2006/relationships/font" Target="fonts/Roboto-boldItalic.fntdata"/><Relationship Id="rId13" Type="http://schemas.openxmlformats.org/officeDocument/2006/relationships/font" Target="fonts/GoogleSans-italic.fntdata"/><Relationship Id="rId12" Type="http://schemas.openxmlformats.org/officeDocument/2006/relationships/font" Target="fonts/Google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14" Type="http://schemas.openxmlformats.org/officeDocument/2006/relationships/font" Target="fonts/Google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13deeb2e98f_0_8: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13deeb2e98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7712" y="1547778"/>
            <a:ext cx="7044600" cy="426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7705" y="5891409"/>
            <a:ext cx="7044600" cy="1647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7705" y="4471058"/>
            <a:ext cx="7044600" cy="1749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4"/>
          <p:cNvPicPr preferRelativeResize="0"/>
          <p:nvPr/>
        </p:nvPicPr>
        <p:blipFill>
          <a:blip r:embed="rId2">
            <a:alphaModFix/>
          </a:blip>
          <a:stretch>
            <a:fillRect/>
          </a:stretch>
        </p:blipFill>
        <p:spPr>
          <a:xfrm>
            <a:off x="0" y="0"/>
            <a:ext cx="7560001" cy="10692598"/>
          </a:xfrm>
          <a:prstGeom prst="rect">
            <a:avLst/>
          </a:prstGeom>
          <a:noFill/>
          <a:ln>
            <a:noFill/>
          </a:ln>
        </p:spPr>
      </p:pic>
      <p:sp>
        <p:nvSpPr>
          <p:cNvPr id="20" name="Google Shape;20;p4"/>
          <p:cNvSpPr/>
          <p:nvPr/>
        </p:nvSpPr>
        <p:spPr>
          <a:xfrm>
            <a:off x="245325" y="981300"/>
            <a:ext cx="7114500" cy="860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oogle Sans"/>
              <a:ea typeface="Google Sans"/>
              <a:cs typeface="Google Sans"/>
              <a:sym typeface="Google Sans"/>
            </a:endParaRPr>
          </a:p>
        </p:txBody>
      </p:sp>
      <p:sp>
        <p:nvSpPr>
          <p:cNvPr id="21" name="Google Shape;21;p4"/>
          <p:cNvSpPr txBox="1"/>
          <p:nvPr/>
        </p:nvSpPr>
        <p:spPr>
          <a:xfrm>
            <a:off x="400050" y="371475"/>
            <a:ext cx="2085900" cy="354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666666"/>
                </a:solidFill>
                <a:latin typeface="Google Sans"/>
                <a:ea typeface="Google Sans"/>
                <a:cs typeface="Google Sans"/>
                <a:sym typeface="Google Sans"/>
              </a:rPr>
              <a:t>Google Career Certificates</a:t>
            </a:r>
            <a:endParaRPr sz="1100">
              <a:solidFill>
                <a:srgbClr val="666666"/>
              </a:solidFill>
              <a:latin typeface="Google Sans"/>
              <a:ea typeface="Google Sans"/>
              <a:cs typeface="Google Sans"/>
              <a:sym typeface="Google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257705"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3995291"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257705" y="1154948"/>
            <a:ext cx="2321700" cy="1570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257705" y="2888617"/>
            <a:ext cx="2321700" cy="6609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05325" y="935745"/>
            <a:ext cx="5264700" cy="8503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3780000" y="-260"/>
            <a:ext cx="3780000" cy="1069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19508" y="2563450"/>
            <a:ext cx="3344400" cy="3081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19508" y="5826865"/>
            <a:ext cx="3344400" cy="2567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083839" y="1505164"/>
            <a:ext cx="3172200" cy="76812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257705" y="8794266"/>
            <a:ext cx="4959600" cy="12579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257705" y="2299346"/>
            <a:ext cx="7044600" cy="4081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257705" y="6552657"/>
            <a:ext cx="7044600" cy="2703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428450" y="389500"/>
            <a:ext cx="274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57" name="Google Shape;57;p13"/>
          <p:cNvSpPr txBox="1"/>
          <p:nvPr/>
        </p:nvSpPr>
        <p:spPr>
          <a:xfrm>
            <a:off x="430800" y="1143000"/>
            <a:ext cx="6970500" cy="44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2400">
                <a:solidFill>
                  <a:srgbClr val="4285F4"/>
                </a:solidFill>
                <a:latin typeface="Google Sans"/>
                <a:ea typeface="Google Sans"/>
                <a:cs typeface="Google Sans"/>
                <a:sym typeface="Google Sans"/>
              </a:rPr>
              <a:t>Giới thiệu tổng quan khóa đào tạo trực tuyến </a:t>
            </a:r>
            <a:endParaRPr b="1" sz="2400">
              <a:solidFill>
                <a:srgbClr val="4285F4"/>
              </a:solidFill>
              <a:latin typeface="Google Sans"/>
              <a:ea typeface="Google Sans"/>
              <a:cs typeface="Google Sans"/>
              <a:sym typeface="Google Sans"/>
            </a:endParaRPr>
          </a:p>
          <a:p>
            <a:pPr indent="0" lvl="0" marL="0" rtl="0" algn="l">
              <a:spcBef>
                <a:spcPts val="0"/>
              </a:spcBef>
              <a:spcAft>
                <a:spcPts val="0"/>
              </a:spcAft>
              <a:buClr>
                <a:schemeClr val="dk1"/>
              </a:buClr>
              <a:buSzPts val="1100"/>
              <a:buFont typeface="Arial"/>
              <a:buNone/>
            </a:pPr>
            <a:r>
              <a:rPr b="1" lang="en" sz="2400">
                <a:solidFill>
                  <a:srgbClr val="4285F4"/>
                </a:solidFill>
                <a:latin typeface="Google Sans"/>
                <a:ea typeface="Google Sans"/>
                <a:cs typeface="Google Sans"/>
                <a:sym typeface="Google Sans"/>
              </a:rPr>
              <a:t>“Tiếp thị kỹ thuật số và thương mại điện tử”</a:t>
            </a:r>
            <a:endParaRPr b="1" sz="2400">
              <a:solidFill>
                <a:srgbClr val="4285F4"/>
              </a:solidFill>
              <a:latin typeface="Google Sans"/>
              <a:ea typeface="Google Sans"/>
              <a:cs typeface="Google Sans"/>
              <a:sym typeface="Google Sans"/>
            </a:endParaRPr>
          </a:p>
          <a:p>
            <a:pPr indent="0" lvl="0" marL="0" rtl="0" algn="just">
              <a:lnSpc>
                <a:spcPct val="115000"/>
              </a:lnSpc>
              <a:spcBef>
                <a:spcPts val="0"/>
              </a:spcBef>
              <a:spcAft>
                <a:spcPts val="0"/>
              </a:spcAft>
              <a:buClr>
                <a:srgbClr val="000000"/>
              </a:buClr>
              <a:buFont typeface="Arial"/>
              <a:buNone/>
            </a:pPr>
            <a:r>
              <a:t/>
            </a:r>
            <a:endParaRPr b="1" sz="2000">
              <a:solidFill>
                <a:srgbClr val="3B7FF2"/>
              </a:solidFill>
            </a:endParaRPr>
          </a:p>
          <a:p>
            <a:pPr indent="0" lvl="0" marL="0" rtl="0" algn="just">
              <a:lnSpc>
                <a:spcPct val="115000"/>
              </a:lnSpc>
              <a:spcBef>
                <a:spcPts val="0"/>
              </a:spcBef>
              <a:spcAft>
                <a:spcPts val="0"/>
              </a:spcAft>
              <a:buClr>
                <a:srgbClr val="000000"/>
              </a:buClr>
              <a:buFont typeface="Arial"/>
              <a:buNone/>
            </a:pPr>
            <a:r>
              <a:rPr lang="en" sz="1200">
                <a:solidFill>
                  <a:srgbClr val="666666"/>
                </a:solidFill>
                <a:latin typeface="Roboto"/>
                <a:ea typeface="Roboto"/>
                <a:cs typeface="Roboto"/>
                <a:sym typeface="Roboto"/>
              </a:rPr>
              <a:t>Khóa học này sẽ giúp học viên xây dựng lộ trình nghề nghiệp trong lĩnh vực Tiếp thị kỹ thuật số và thương mại điện tử. Thời gian có thể hoàn thành khóa học là 6 tháng, với thời lượng học tập trung bình khoảng 10 giờ mỗi tuần. Học viên lựa chọn thời gian học tập linh hoạt theo lịch của cá nhân. Học viên sẽ được học các kỹ năng cần cho công việc: kỹ năng quản lý chiến dịch tiếp thị kỹ thuật số, thu hút và tương tác với người dùng, cũng như bán sản phẩm trên nền tảng trực tuyến… </a:t>
            </a:r>
            <a:endParaRPr sz="1200">
              <a:solidFill>
                <a:srgbClr val="434343"/>
              </a:solidFill>
              <a:latin typeface="Roboto"/>
              <a:ea typeface="Roboto"/>
              <a:cs typeface="Roboto"/>
              <a:sym typeface="Roboto"/>
            </a:endParaRPr>
          </a:p>
          <a:p>
            <a:pPr indent="0" lvl="0" marL="0" rtl="0" algn="just">
              <a:lnSpc>
                <a:spcPct val="115000"/>
              </a:lnSpc>
              <a:spcBef>
                <a:spcPts val="0"/>
              </a:spcBef>
              <a:spcAft>
                <a:spcPts val="0"/>
              </a:spcAft>
              <a:buClr>
                <a:srgbClr val="000000"/>
              </a:buClr>
              <a:buFont typeface="Arial"/>
              <a:buNone/>
            </a:pPr>
            <a:r>
              <a:rPr lang="en" sz="1200">
                <a:solidFill>
                  <a:srgbClr val="3B7FF2"/>
                </a:solidFill>
                <a:highlight>
                  <a:srgbClr val="FFFFFF"/>
                </a:highlight>
                <a:latin typeface="Roboto"/>
                <a:ea typeface="Roboto"/>
                <a:cs typeface="Roboto"/>
                <a:sym typeface="Roboto"/>
              </a:rPr>
              <a:t>*Ngôn ngữ: Tiếng Anh</a:t>
            </a:r>
            <a:endParaRPr sz="1200">
              <a:solidFill>
                <a:srgbClr val="3B7FF2"/>
              </a:solidFill>
              <a:highlight>
                <a:srgbClr val="FFFFFF"/>
              </a:highlight>
              <a:latin typeface="Roboto"/>
              <a:ea typeface="Roboto"/>
              <a:cs typeface="Roboto"/>
              <a:sym typeface="Roboto"/>
            </a:endParaRPr>
          </a:p>
          <a:p>
            <a:pPr indent="0" lvl="0" marL="0" rtl="0" algn="just">
              <a:lnSpc>
                <a:spcPct val="115000"/>
              </a:lnSpc>
              <a:spcBef>
                <a:spcPts val="0"/>
              </a:spcBef>
              <a:spcAft>
                <a:spcPts val="0"/>
              </a:spcAft>
              <a:buClr>
                <a:srgbClr val="000000"/>
              </a:buClr>
              <a:buFont typeface="Arial"/>
              <a:buNone/>
            </a:pPr>
            <a:r>
              <a:t/>
            </a:r>
            <a:endParaRPr sz="1200">
              <a:solidFill>
                <a:srgbClr val="3B7FF2"/>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b="1" lang="en">
                <a:solidFill>
                  <a:srgbClr val="666666"/>
                </a:solidFill>
                <a:latin typeface="Google Sans"/>
                <a:ea typeface="Google Sans"/>
                <a:cs typeface="Google Sans"/>
                <a:sym typeface="Google Sans"/>
              </a:rPr>
              <a:t>Nội dung khóa học</a:t>
            </a:r>
            <a:endParaRPr sz="1300" u="sng">
              <a:solidFill>
                <a:srgbClr val="4A86E8"/>
              </a:solidFill>
              <a:highlight>
                <a:schemeClr val="lt1"/>
              </a:highlight>
              <a:latin typeface="Google Sans"/>
              <a:ea typeface="Google Sans"/>
              <a:cs typeface="Google Sans"/>
              <a:sym typeface="Google Sans"/>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Cơ sở của Tiếp thị kỹ thuật số và Thương mại điện tử</a:t>
            </a:r>
            <a:endParaRPr sz="1200">
              <a:solidFill>
                <a:srgbClr val="666666"/>
              </a:solidFill>
              <a:latin typeface="Roboto"/>
              <a:ea typeface="Roboto"/>
              <a:cs typeface="Roboto"/>
              <a:sym typeface="Roboto"/>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Thu hút và tương tác cùng </a:t>
            </a:r>
            <a:r>
              <a:rPr lang="en" sz="1200">
                <a:solidFill>
                  <a:srgbClr val="666666"/>
                </a:solidFill>
                <a:latin typeface="Roboto"/>
                <a:ea typeface="Roboto"/>
                <a:cs typeface="Roboto"/>
                <a:sym typeface="Roboto"/>
              </a:rPr>
              <a:t>khách hàng bằng Tiếp thị kỹ thuật số</a:t>
            </a:r>
            <a:endParaRPr sz="1200">
              <a:solidFill>
                <a:srgbClr val="666666"/>
              </a:solidFill>
              <a:latin typeface="Roboto"/>
              <a:ea typeface="Roboto"/>
              <a:cs typeface="Roboto"/>
              <a:sym typeface="Roboto"/>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Từ lượt thích đến lượt khách hàng tiềm năng: Tương tác với khách hàng trực tuyến</a:t>
            </a:r>
            <a:endParaRPr sz="1200">
              <a:solidFill>
                <a:srgbClr val="666666"/>
              </a:solidFill>
              <a:latin typeface="Roboto"/>
              <a:ea typeface="Roboto"/>
              <a:cs typeface="Roboto"/>
              <a:sym typeface="Roboto"/>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Vượt qua giới hạn: Tiếp thị qua email</a:t>
            </a:r>
            <a:endParaRPr sz="1200">
              <a:solidFill>
                <a:srgbClr val="666666"/>
              </a:solidFill>
              <a:latin typeface="Roboto"/>
              <a:ea typeface="Roboto"/>
              <a:cs typeface="Roboto"/>
              <a:sym typeface="Roboto"/>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Đánh giá để thành công: Phân tích và đo lường tiếp thị</a:t>
            </a:r>
            <a:endParaRPr sz="1200">
              <a:solidFill>
                <a:srgbClr val="666666"/>
              </a:solidFill>
              <a:latin typeface="Roboto"/>
              <a:ea typeface="Roboto"/>
              <a:cs typeface="Roboto"/>
              <a:sym typeface="Roboto"/>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Bán hàng: Xây dựng, Khởi động và Quản lý Cửa hàng Thương mại Điện tử</a:t>
            </a:r>
            <a:endParaRPr sz="1200">
              <a:solidFill>
                <a:srgbClr val="666666"/>
              </a:solidFill>
              <a:latin typeface="Roboto"/>
              <a:ea typeface="Roboto"/>
              <a:cs typeface="Roboto"/>
              <a:sym typeface="Roboto"/>
            </a:endParaRPr>
          </a:p>
          <a:p>
            <a:pPr indent="-304800" lvl="0" marL="457200" rtl="0" algn="l">
              <a:lnSpc>
                <a:spcPct val="115000"/>
              </a:lnSpc>
              <a:spcBef>
                <a:spcPts val="0"/>
              </a:spcBef>
              <a:spcAft>
                <a:spcPts val="0"/>
              </a:spcAft>
              <a:buClr>
                <a:srgbClr val="666666"/>
              </a:buClr>
              <a:buSzPts val="1200"/>
              <a:buFont typeface="Roboto"/>
              <a:buAutoNum type="arabicPeriod"/>
            </a:pPr>
            <a:r>
              <a:rPr lang="en" sz="1200">
                <a:solidFill>
                  <a:srgbClr val="666666"/>
                </a:solidFill>
                <a:latin typeface="Roboto"/>
                <a:ea typeface="Roboto"/>
                <a:cs typeface="Roboto"/>
                <a:sym typeface="Roboto"/>
              </a:rPr>
              <a:t>Đảm bảo sự hài lòng: Phát triển lòng trung thành của khách hàng trực tuyến</a:t>
            </a:r>
            <a:endParaRPr sz="1200">
              <a:solidFill>
                <a:srgbClr val="3B7FF2"/>
              </a:solidFill>
              <a:highlight>
                <a:srgbClr val="FFFFFF"/>
              </a:highlight>
            </a:endParaRPr>
          </a:p>
        </p:txBody>
      </p:sp>
      <p:sp>
        <p:nvSpPr>
          <p:cNvPr id="58" name="Google Shape;58;p13"/>
          <p:cNvSpPr/>
          <p:nvPr/>
        </p:nvSpPr>
        <p:spPr>
          <a:xfrm>
            <a:off x="474575" y="5719750"/>
            <a:ext cx="6772200" cy="1835400"/>
          </a:xfrm>
          <a:prstGeom prst="roundRect">
            <a:avLst>
              <a:gd fmla="val 7404" name="adj"/>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3B7FF2"/>
                </a:solidFill>
                <a:latin typeface="Roboto"/>
                <a:ea typeface="Roboto"/>
                <a:cs typeface="Roboto"/>
                <a:sym typeface="Roboto"/>
              </a:rPr>
              <a:t>                               </a:t>
            </a:r>
            <a:r>
              <a:rPr b="1" lang="en">
                <a:solidFill>
                  <a:srgbClr val="3B7FF2"/>
                </a:solidFill>
                <a:latin typeface="Google Sans"/>
                <a:ea typeface="Google Sans"/>
                <a:cs typeface="Google Sans"/>
                <a:sym typeface="Google Sans"/>
              </a:rPr>
              <a:t>Kết quả đầu ra</a:t>
            </a:r>
            <a:r>
              <a:rPr i="0" lang="en" sz="1400" u="none" cap="none" strike="noStrike">
                <a:solidFill>
                  <a:srgbClr val="3B7FF2"/>
                </a:solidFill>
                <a:latin typeface="Roboto"/>
                <a:ea typeface="Roboto"/>
                <a:cs typeface="Roboto"/>
                <a:sym typeface="Roboto"/>
              </a:rPr>
              <a:t>		</a:t>
            </a:r>
            <a:endParaRPr i="0" sz="1400" u="none" cap="none" strike="noStrike">
              <a:solidFill>
                <a:srgbClr val="3B7FF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3B7FF2"/>
              </a:solidFill>
              <a:latin typeface="Roboto"/>
              <a:ea typeface="Roboto"/>
              <a:cs typeface="Roboto"/>
              <a:sym typeface="Roboto"/>
            </a:endParaRPr>
          </a:p>
          <a:p>
            <a:pPr indent="0" lvl="0" marL="457200" marR="0" rtl="0" algn="l">
              <a:lnSpc>
                <a:spcPct val="115000"/>
              </a:lnSpc>
              <a:spcBef>
                <a:spcPts val="0"/>
              </a:spcBef>
              <a:spcAft>
                <a:spcPts val="0"/>
              </a:spcAft>
              <a:buNone/>
            </a:pPr>
            <a:r>
              <a:rPr lang="en" sz="1100">
                <a:solidFill>
                  <a:srgbClr val="5F6368"/>
                </a:solidFill>
                <a:latin typeface="Roboto"/>
                <a:ea typeface="Roboto"/>
                <a:cs typeface="Roboto"/>
                <a:sym typeface="Roboto"/>
              </a:rPr>
              <a:t>		</a:t>
            </a:r>
            <a:r>
              <a:rPr lang="en" sz="1200">
                <a:solidFill>
                  <a:srgbClr val="666666"/>
                </a:solidFill>
                <a:latin typeface="Roboto"/>
                <a:ea typeface="Roboto"/>
                <a:cs typeface="Roboto"/>
                <a:sym typeface="Roboto"/>
              </a:rPr>
              <a:t>Kết thúc khóa học, học viên có thể</a:t>
            </a:r>
            <a:endParaRPr sz="1200">
              <a:solidFill>
                <a:srgbClr val="666666"/>
              </a:solidFill>
              <a:latin typeface="Roboto"/>
              <a:ea typeface="Roboto"/>
              <a:cs typeface="Roboto"/>
              <a:sym typeface="Roboto"/>
            </a:endParaRPr>
          </a:p>
          <a:p>
            <a:pPr indent="-298450" lvl="0" marL="1371600" marR="0" rtl="0" algn="l">
              <a:lnSpc>
                <a:spcPct val="115000"/>
              </a:lnSpc>
              <a:spcBef>
                <a:spcPts val="0"/>
              </a:spcBef>
              <a:spcAft>
                <a:spcPts val="0"/>
              </a:spcAft>
              <a:buClr>
                <a:srgbClr val="5F6368"/>
              </a:buClr>
              <a:buSzPts val="1100"/>
              <a:buFont typeface="Roboto"/>
              <a:buChar char="●"/>
            </a:pPr>
            <a:r>
              <a:rPr lang="en" sz="1200">
                <a:solidFill>
                  <a:srgbClr val="666666"/>
                </a:solidFill>
                <a:latin typeface="Roboto"/>
                <a:ea typeface="Roboto"/>
                <a:cs typeface="Roboto"/>
                <a:sym typeface="Roboto"/>
              </a:rPr>
              <a:t>Xây dựng chiến lược tiếp thị kỹ thuật số và thương mại điện tử</a:t>
            </a:r>
            <a:endParaRPr sz="1200">
              <a:solidFill>
                <a:srgbClr val="666666"/>
              </a:solidFill>
              <a:latin typeface="Roboto"/>
              <a:ea typeface="Roboto"/>
              <a:cs typeface="Roboto"/>
              <a:sym typeface="Roboto"/>
            </a:endParaRPr>
          </a:p>
          <a:p>
            <a:pPr indent="-298450" lvl="0" marL="1371600" marR="0" rtl="0" algn="l">
              <a:lnSpc>
                <a:spcPct val="115000"/>
              </a:lnSpc>
              <a:spcBef>
                <a:spcPts val="0"/>
              </a:spcBef>
              <a:spcAft>
                <a:spcPts val="0"/>
              </a:spcAft>
              <a:buClr>
                <a:srgbClr val="5F6368"/>
              </a:buClr>
              <a:buSzPts val="1100"/>
              <a:buFont typeface="Roboto"/>
              <a:buChar char="●"/>
            </a:pPr>
            <a:r>
              <a:rPr lang="en" sz="1200">
                <a:solidFill>
                  <a:srgbClr val="666666"/>
                </a:solidFill>
                <a:latin typeface="Roboto"/>
                <a:ea typeface="Roboto"/>
                <a:cs typeface="Roboto"/>
                <a:sym typeface="Roboto"/>
              </a:rPr>
              <a:t>Thu hút và tương tác với người dùng qua các kênh tiếp thị kỹ thuật số như kênh tìm kiếm, tiếp thị nội dung và email</a:t>
            </a:r>
            <a:endParaRPr sz="1200">
              <a:solidFill>
                <a:srgbClr val="666666"/>
              </a:solidFill>
              <a:latin typeface="Roboto"/>
              <a:ea typeface="Roboto"/>
              <a:cs typeface="Roboto"/>
              <a:sym typeface="Roboto"/>
            </a:endParaRPr>
          </a:p>
          <a:p>
            <a:pPr indent="-298450" lvl="0" marL="1371600" marR="0" rtl="0" algn="l">
              <a:lnSpc>
                <a:spcPct val="115000"/>
              </a:lnSpc>
              <a:spcBef>
                <a:spcPts val="0"/>
              </a:spcBef>
              <a:spcAft>
                <a:spcPts val="0"/>
              </a:spcAft>
              <a:buClr>
                <a:srgbClr val="5F6368"/>
              </a:buClr>
              <a:buSzPts val="1100"/>
              <a:buFont typeface="Roboto"/>
              <a:buChar char="●"/>
            </a:pPr>
            <a:r>
              <a:rPr lang="en" sz="1200">
                <a:solidFill>
                  <a:srgbClr val="666666"/>
                </a:solidFill>
                <a:latin typeface="Roboto"/>
                <a:ea typeface="Roboto"/>
                <a:cs typeface="Roboto"/>
                <a:sym typeface="Roboto"/>
              </a:rPr>
              <a:t>Đo lường và phân tích các chiến dịch quảng cáo tiếp thị, chia sẻ thông tin trọng yếu</a:t>
            </a:r>
            <a:endParaRPr sz="1200">
              <a:solidFill>
                <a:srgbClr val="666666"/>
              </a:solidFill>
              <a:latin typeface="Roboto"/>
              <a:ea typeface="Roboto"/>
              <a:cs typeface="Roboto"/>
              <a:sym typeface="Roboto"/>
            </a:endParaRPr>
          </a:p>
          <a:p>
            <a:pPr indent="-298450" lvl="0" marL="1371600" marR="0" rtl="0" algn="l">
              <a:lnSpc>
                <a:spcPct val="115000"/>
              </a:lnSpc>
              <a:spcBef>
                <a:spcPts val="0"/>
              </a:spcBef>
              <a:spcAft>
                <a:spcPts val="0"/>
              </a:spcAft>
              <a:buClr>
                <a:srgbClr val="5F6368"/>
              </a:buClr>
              <a:buSzPts val="1100"/>
              <a:buFont typeface="Roboto"/>
              <a:buChar char="●"/>
            </a:pPr>
            <a:r>
              <a:rPr lang="en" sz="1200">
                <a:solidFill>
                  <a:srgbClr val="666666"/>
                </a:solidFill>
                <a:latin typeface="Roboto"/>
                <a:ea typeface="Roboto"/>
                <a:cs typeface="Roboto"/>
                <a:sym typeface="Roboto"/>
              </a:rPr>
              <a:t>Xây dựng cửa hàng thương mại điện tử, phân tích kết quả kinh doanh và tạo tệp người dùng trung thành</a:t>
            </a:r>
            <a:endParaRPr sz="1100">
              <a:solidFill>
                <a:srgbClr val="5F6368"/>
              </a:solidFill>
              <a:latin typeface="Roboto"/>
              <a:ea typeface="Roboto"/>
              <a:cs typeface="Roboto"/>
              <a:sym typeface="Roboto"/>
            </a:endParaRPr>
          </a:p>
        </p:txBody>
      </p:sp>
      <p:pic>
        <p:nvPicPr>
          <p:cNvPr id="59" name="Google Shape;59;p13"/>
          <p:cNvPicPr preferRelativeResize="0"/>
          <p:nvPr/>
        </p:nvPicPr>
        <p:blipFill>
          <a:blip r:embed="rId3">
            <a:alphaModFix/>
          </a:blip>
          <a:stretch>
            <a:fillRect/>
          </a:stretch>
        </p:blipFill>
        <p:spPr>
          <a:xfrm>
            <a:off x="428450" y="6391275"/>
            <a:ext cx="990775" cy="990775"/>
          </a:xfrm>
          <a:prstGeom prst="rect">
            <a:avLst/>
          </a:prstGeom>
          <a:noFill/>
          <a:ln>
            <a:noFill/>
          </a:ln>
        </p:spPr>
      </p:pic>
      <p:sp>
        <p:nvSpPr>
          <p:cNvPr id="60" name="Google Shape;60;p13"/>
          <p:cNvSpPr/>
          <p:nvPr/>
        </p:nvSpPr>
        <p:spPr>
          <a:xfrm>
            <a:off x="474575" y="8191925"/>
            <a:ext cx="7085400" cy="1914600"/>
          </a:xfrm>
          <a:prstGeom prst="roundRect">
            <a:avLst>
              <a:gd fmla="val 3447" name="adj"/>
            </a:avLst>
          </a:prstGeom>
          <a:solidFill>
            <a:srgbClr val="FFFF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rgbClr val="666666"/>
                </a:solidFill>
                <a:latin typeface="Google Sans"/>
                <a:ea typeface="Google Sans"/>
                <a:cs typeface="Google Sans"/>
                <a:sym typeface="Google Sans"/>
              </a:rPr>
              <a:t>Công việc phù hợp</a:t>
            </a:r>
            <a:r>
              <a:rPr b="1" lang="en">
                <a:solidFill>
                  <a:srgbClr val="666666"/>
                </a:solidFill>
                <a:latin typeface="Roboto"/>
                <a:ea typeface="Roboto"/>
                <a:cs typeface="Roboto"/>
                <a:sym typeface="Roboto"/>
              </a:rPr>
              <a:t>:</a:t>
            </a:r>
            <a:endParaRPr b="1">
              <a:solidFill>
                <a:srgbClr val="666666"/>
              </a:solidFill>
              <a:latin typeface="Roboto"/>
              <a:ea typeface="Roboto"/>
              <a:cs typeface="Roboto"/>
              <a:sym typeface="Roboto"/>
            </a:endParaRPr>
          </a:p>
          <a:p>
            <a:pPr indent="0" lvl="0" marL="0" rtl="0" algn="l">
              <a:lnSpc>
                <a:spcPct val="115000"/>
              </a:lnSpc>
              <a:spcBef>
                <a:spcPts val="0"/>
              </a:spcBef>
              <a:spcAft>
                <a:spcPts val="0"/>
              </a:spcAft>
              <a:buSzPts val="1400"/>
              <a:buNone/>
            </a:pPr>
            <a:r>
              <a:rPr lang="en" sz="1200">
                <a:solidFill>
                  <a:srgbClr val="666666"/>
                </a:solidFill>
                <a:latin typeface="Roboto"/>
                <a:ea typeface="Roboto"/>
                <a:cs typeface="Roboto"/>
                <a:sym typeface="Roboto"/>
              </a:rPr>
              <a:t>Sau khi hoàn thành khóa học, học viên có thể làm các vị trí công việc dưới đây:</a:t>
            </a:r>
            <a:endParaRPr sz="1200">
              <a:solidFill>
                <a:srgbClr val="666666"/>
              </a:solidFill>
              <a:latin typeface="Roboto"/>
              <a:ea typeface="Roboto"/>
              <a:cs typeface="Roboto"/>
              <a:sym typeface="Roboto"/>
            </a:endParaRPr>
          </a:p>
          <a:p>
            <a:pPr indent="-304800" lvl="0" marL="457200" rtl="0" algn="just">
              <a:lnSpc>
                <a:spcPct val="115000"/>
              </a:lnSpc>
              <a:spcBef>
                <a:spcPts val="1000"/>
              </a:spcBef>
              <a:spcAft>
                <a:spcPts val="0"/>
              </a:spcAft>
              <a:buClr>
                <a:srgbClr val="666666"/>
              </a:buClr>
              <a:buSzPts val="1200"/>
              <a:buFont typeface="Roboto"/>
              <a:buChar char="●"/>
            </a:pPr>
            <a:r>
              <a:rPr lang="en" sz="1200">
                <a:solidFill>
                  <a:srgbClr val="666666"/>
                </a:solidFill>
                <a:latin typeface="Roboto"/>
                <a:ea typeface="Roboto"/>
                <a:cs typeface="Roboto"/>
                <a:sym typeface="Roboto"/>
              </a:rPr>
              <a:t>Chuyên viên điều phối tiếp thị kỹ thuật số</a:t>
            </a:r>
            <a:endParaRPr sz="1200">
              <a:solidFill>
                <a:srgbClr val="666666"/>
              </a:solidFill>
              <a:latin typeface="Roboto"/>
              <a:ea typeface="Roboto"/>
              <a:cs typeface="Roboto"/>
              <a:sym typeface="Roboto"/>
            </a:endParaRPr>
          </a:p>
          <a:p>
            <a:pPr indent="-304800" lvl="0" marL="457200" rtl="0" algn="just">
              <a:lnSpc>
                <a:spcPct val="115000"/>
              </a:lnSpc>
              <a:spcBef>
                <a:spcPts val="0"/>
              </a:spcBef>
              <a:spcAft>
                <a:spcPts val="0"/>
              </a:spcAft>
              <a:buClr>
                <a:srgbClr val="666666"/>
              </a:buClr>
              <a:buSzPts val="1200"/>
              <a:buFont typeface="Roboto"/>
              <a:buChar char="●"/>
            </a:pPr>
            <a:r>
              <a:rPr lang="en" sz="1200">
                <a:solidFill>
                  <a:srgbClr val="666666"/>
                </a:solidFill>
                <a:latin typeface="Roboto"/>
                <a:ea typeface="Roboto"/>
                <a:cs typeface="Roboto"/>
                <a:sym typeface="Roboto"/>
              </a:rPr>
              <a:t>Chuyên viên tối ưu hóa công cụ tìm kiếm</a:t>
            </a:r>
            <a:endParaRPr sz="1200">
              <a:solidFill>
                <a:srgbClr val="666666"/>
              </a:solidFill>
              <a:latin typeface="Roboto"/>
              <a:ea typeface="Roboto"/>
              <a:cs typeface="Roboto"/>
              <a:sym typeface="Roboto"/>
            </a:endParaRPr>
          </a:p>
          <a:p>
            <a:pPr indent="-304800" lvl="0" marL="457200" rtl="0" algn="just">
              <a:lnSpc>
                <a:spcPct val="115000"/>
              </a:lnSpc>
              <a:spcBef>
                <a:spcPts val="0"/>
              </a:spcBef>
              <a:spcAft>
                <a:spcPts val="0"/>
              </a:spcAft>
              <a:buClr>
                <a:srgbClr val="666666"/>
              </a:buClr>
              <a:buSzPts val="1200"/>
              <a:buFont typeface="Roboto"/>
              <a:buChar char="●"/>
            </a:pPr>
            <a:r>
              <a:rPr lang="en" sz="1200">
                <a:solidFill>
                  <a:srgbClr val="666666"/>
                </a:solidFill>
                <a:latin typeface="Roboto"/>
                <a:ea typeface="Roboto"/>
                <a:cs typeface="Roboto"/>
                <a:sym typeface="Roboto"/>
              </a:rPr>
              <a:t>Chuyên viên tiếp thị qua công cụ tìm kiếm</a:t>
            </a:r>
            <a:endParaRPr sz="1200">
              <a:solidFill>
                <a:srgbClr val="666666"/>
              </a:solidFill>
              <a:latin typeface="Roboto"/>
              <a:ea typeface="Roboto"/>
              <a:cs typeface="Roboto"/>
              <a:sym typeface="Roboto"/>
            </a:endParaRPr>
          </a:p>
          <a:p>
            <a:pPr indent="-304800" lvl="0" marL="457200" rtl="0" algn="just">
              <a:lnSpc>
                <a:spcPct val="115000"/>
              </a:lnSpc>
              <a:spcBef>
                <a:spcPts val="0"/>
              </a:spcBef>
              <a:spcAft>
                <a:spcPts val="0"/>
              </a:spcAft>
              <a:buClr>
                <a:srgbClr val="666666"/>
              </a:buClr>
              <a:buSzPts val="1200"/>
              <a:buFont typeface="Roboto"/>
              <a:buChar char="●"/>
            </a:pPr>
            <a:r>
              <a:rPr lang="en" sz="1200">
                <a:solidFill>
                  <a:srgbClr val="666666"/>
                </a:solidFill>
                <a:latin typeface="Roboto"/>
                <a:ea typeface="Roboto"/>
                <a:cs typeface="Roboto"/>
                <a:sym typeface="Roboto"/>
              </a:rPr>
              <a:t>Chuyên viên công cụ tìm kiếm có trả phí</a:t>
            </a:r>
            <a:endParaRPr sz="1200">
              <a:solidFill>
                <a:srgbClr val="666666"/>
              </a:solidFill>
              <a:latin typeface="Roboto"/>
              <a:ea typeface="Roboto"/>
              <a:cs typeface="Roboto"/>
              <a:sym typeface="Roboto"/>
            </a:endParaRPr>
          </a:p>
          <a:p>
            <a:pPr indent="-304800" lvl="0" marL="457200" rtl="0" algn="just">
              <a:lnSpc>
                <a:spcPct val="115000"/>
              </a:lnSpc>
              <a:spcBef>
                <a:spcPts val="0"/>
              </a:spcBef>
              <a:spcAft>
                <a:spcPts val="0"/>
              </a:spcAft>
              <a:buClr>
                <a:srgbClr val="666666"/>
              </a:buClr>
              <a:buSzPts val="1200"/>
              <a:buFont typeface="Roboto"/>
              <a:buChar char="●"/>
            </a:pPr>
            <a:r>
              <a:rPr lang="en" sz="1200">
                <a:solidFill>
                  <a:srgbClr val="666666"/>
                </a:solidFill>
                <a:latin typeface="Roboto"/>
                <a:ea typeface="Roboto"/>
                <a:cs typeface="Roboto"/>
                <a:sym typeface="Roboto"/>
              </a:rPr>
              <a:t>Chuyên viên tiếp thị qua email</a:t>
            </a:r>
            <a:endParaRPr sz="1200">
              <a:solidFill>
                <a:srgbClr val="666666"/>
              </a:solidFill>
              <a:latin typeface="Roboto"/>
              <a:ea typeface="Roboto"/>
              <a:cs typeface="Roboto"/>
              <a:sym typeface="Roboto"/>
            </a:endParaRPr>
          </a:p>
        </p:txBody>
      </p:sp>
      <p:cxnSp>
        <p:nvCxnSpPr>
          <p:cNvPr id="61" name="Google Shape;61;p13"/>
          <p:cNvCxnSpPr/>
          <p:nvPr/>
        </p:nvCxnSpPr>
        <p:spPr>
          <a:xfrm>
            <a:off x="523875" y="5667375"/>
            <a:ext cx="6772200" cy="0"/>
          </a:xfrm>
          <a:prstGeom prst="straightConnector1">
            <a:avLst/>
          </a:prstGeom>
          <a:noFill/>
          <a:ln cap="flat" cmpd="sng" w="9525">
            <a:solidFill>
              <a:srgbClr val="999999"/>
            </a:solidFill>
            <a:prstDash val="solid"/>
            <a:round/>
            <a:headEnd len="med" w="med" type="none"/>
            <a:tailEnd len="med" w="med" type="none"/>
          </a:ln>
        </p:spPr>
      </p:cxnSp>
      <p:cxnSp>
        <p:nvCxnSpPr>
          <p:cNvPr id="62" name="Google Shape;62;p13"/>
          <p:cNvCxnSpPr/>
          <p:nvPr/>
        </p:nvCxnSpPr>
        <p:spPr>
          <a:xfrm>
            <a:off x="523875" y="8105775"/>
            <a:ext cx="6772200" cy="0"/>
          </a:xfrm>
          <a:prstGeom prst="straightConnector1">
            <a:avLst/>
          </a:prstGeom>
          <a:noFill/>
          <a:ln cap="flat" cmpd="sng" w="9525">
            <a:solidFill>
              <a:srgbClr val="999999"/>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