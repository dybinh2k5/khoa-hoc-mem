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10058400" cx="7772400"/>
  <p:notesSz cx="7772400" cy="10058400"/>
  <p:embeddedFontLst>
    <p:embeddedFont>
      <p:font typeface="Roboto"/>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11" roundtripDataSignature="AMtx7mh+V8faxGrE9X3eH72ByvVNwA7u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customschemas.google.com/relationships/presentationmetadata" Target="metadata"/><Relationship Id="rId10" Type="http://schemas.openxmlformats.org/officeDocument/2006/relationships/font" Target="fonts/Roboto-boldItalic.fntdata"/><Relationship Id="rId9"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oboto-regular.fntdata"/><Relationship Id="rId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368675" cy="5048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402138" y="0"/>
            <a:ext cx="3368675" cy="50482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553575"/>
            <a:ext cx="3368675" cy="5048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402138" y="9553575"/>
            <a:ext cx="3368675" cy="50482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1:notes"/>
          <p:cNvSpPr/>
          <p:nvPr>
            <p:ph idx="2" type="sldImg"/>
          </p:nvPr>
        </p:nvSpPr>
        <p:spPr>
          <a:xfrm>
            <a:off x="2574925" y="1257300"/>
            <a:ext cx="2622550" cy="33940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1:notes"/>
          <p:cNvSpPr txBox="1"/>
          <p:nvPr>
            <p:ph idx="1" type="body"/>
          </p:nvPr>
        </p:nvSpPr>
        <p:spPr>
          <a:xfrm>
            <a:off x="777875" y="4840288"/>
            <a:ext cx="6216650" cy="39608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 name="Google Shape;47;p1:notes"/>
          <p:cNvSpPr txBox="1"/>
          <p:nvPr>
            <p:ph idx="12" type="sldNum"/>
          </p:nvPr>
        </p:nvSpPr>
        <p:spPr>
          <a:xfrm>
            <a:off x="4402138" y="9553575"/>
            <a:ext cx="3368675" cy="50482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3"/>
          <p:cNvSpPr txBox="1"/>
          <p:nvPr>
            <p:ph type="title"/>
          </p:nvPr>
        </p:nvSpPr>
        <p:spPr>
          <a:xfrm>
            <a:off x="292100" y="965200"/>
            <a:ext cx="7188200" cy="1423988"/>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b="0" i="0" sz="2500">
                <a:solidFill>
                  <a:srgbClr val="4285F4"/>
                </a:solidFill>
                <a:latin typeface="Arial"/>
                <a:ea typeface="Arial"/>
                <a:cs typeface="Arial"/>
                <a:sym typeface="A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 name="Google Shape;18;p3"/>
          <p:cNvSpPr txBox="1"/>
          <p:nvPr>
            <p:ph idx="1" type="body"/>
          </p:nvPr>
        </p:nvSpPr>
        <p:spPr>
          <a:xfrm>
            <a:off x="388938" y="2312988"/>
            <a:ext cx="6994525" cy="663892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360"/>
              </a:spcBef>
              <a:spcAft>
                <a:spcPts val="0"/>
              </a:spcAft>
              <a:buSzPts val="1400"/>
              <a:buNone/>
              <a:defRPr/>
            </a:lvl1pPr>
            <a:lvl2pPr indent="-228600" lvl="1" marL="914400" algn="l">
              <a:lnSpc>
                <a:spcPct val="100000"/>
              </a:lnSpc>
              <a:spcBef>
                <a:spcPts val="360"/>
              </a:spcBef>
              <a:spcAft>
                <a:spcPts val="0"/>
              </a:spcAft>
              <a:buSzPts val="1400"/>
              <a:buNone/>
              <a:defRPr/>
            </a:lvl2pPr>
            <a:lvl3pPr indent="-228600" lvl="2" marL="1371600" algn="l">
              <a:lnSpc>
                <a:spcPct val="100000"/>
              </a:lnSpc>
              <a:spcBef>
                <a:spcPts val="360"/>
              </a:spcBef>
              <a:spcAft>
                <a:spcPts val="0"/>
              </a:spcAft>
              <a:buSzPts val="1400"/>
              <a:buNone/>
              <a:defRPr/>
            </a:lvl3pPr>
            <a:lvl4pPr indent="-228600" lvl="3" marL="1828800" algn="l">
              <a:lnSpc>
                <a:spcPct val="100000"/>
              </a:lnSpc>
              <a:spcBef>
                <a:spcPts val="360"/>
              </a:spcBef>
              <a:spcAft>
                <a:spcPts val="0"/>
              </a:spcAft>
              <a:buSzPts val="1400"/>
              <a:buNone/>
              <a:defRPr/>
            </a:lvl4pPr>
            <a:lvl5pPr indent="-228600" lvl="4" marL="2286000" algn="l">
              <a:lnSpc>
                <a:spcPct val="100000"/>
              </a:lnSpc>
              <a:spcBef>
                <a:spcPts val="36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2643188" y="9353550"/>
            <a:ext cx="2486025" cy="503238"/>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0" type="dt"/>
          </p:nvPr>
        </p:nvSpPr>
        <p:spPr>
          <a:xfrm>
            <a:off x="388938" y="9353550"/>
            <a:ext cx="1787525" cy="27699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2" type="sldNum"/>
          </p:nvPr>
        </p:nvSpPr>
        <p:spPr>
          <a:xfrm>
            <a:off x="5595938" y="9353550"/>
            <a:ext cx="1787525" cy="276999"/>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2" name="Shape 22"/>
        <p:cNvGrpSpPr/>
        <p:nvPr/>
      </p:nvGrpSpPr>
      <p:grpSpPr>
        <a:xfrm>
          <a:off x="0" y="0"/>
          <a:ext cx="0" cy="0"/>
          <a:chOff x="0" y="0"/>
          <a:chExt cx="0" cy="0"/>
        </a:xfrm>
      </p:grpSpPr>
      <p:sp>
        <p:nvSpPr>
          <p:cNvPr id="23" name="Google Shape;23;p4"/>
          <p:cNvSpPr txBox="1"/>
          <p:nvPr>
            <p:ph type="ctrTitle"/>
          </p:nvPr>
        </p:nvSpPr>
        <p:spPr>
          <a:xfrm>
            <a:off x="582930" y="3118104"/>
            <a:ext cx="6606540" cy="2112264"/>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b="0" i="0" sz="2500">
                <a:solidFill>
                  <a:srgbClr val="4285F4"/>
                </a:solidFill>
                <a:latin typeface="Arial"/>
                <a:ea typeface="Arial"/>
                <a:cs typeface="Arial"/>
                <a:sym typeface="A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 name="Google Shape;24;p4"/>
          <p:cNvSpPr txBox="1"/>
          <p:nvPr>
            <p:ph idx="1" type="subTitle"/>
          </p:nvPr>
        </p:nvSpPr>
        <p:spPr>
          <a:xfrm>
            <a:off x="1165860" y="5632704"/>
            <a:ext cx="5440680" cy="2514600"/>
          </a:xfrm>
          <a:prstGeom prst="rect">
            <a:avLst/>
          </a:prstGeom>
          <a:noFill/>
          <a:ln>
            <a:noFill/>
          </a:ln>
        </p:spPr>
        <p:txBody>
          <a:bodyPr anchorCtr="0" anchor="t" bIns="0" lIns="0" spcFirstLastPara="1" rIns="0" wrap="square" tIns="0">
            <a:spAutoFit/>
          </a:bodyPr>
          <a:lstStyle>
            <a:lvl1pPr lvl="0" algn="l">
              <a:lnSpc>
                <a:spcPct val="100000"/>
              </a:lnSpc>
              <a:spcBef>
                <a:spcPts val="360"/>
              </a:spcBef>
              <a:spcAft>
                <a:spcPts val="0"/>
              </a:spcAft>
              <a:buSzPts val="1400"/>
              <a:buNone/>
              <a:defRPr/>
            </a:lvl1pPr>
            <a:lvl2pPr lvl="1" algn="l">
              <a:lnSpc>
                <a:spcPct val="100000"/>
              </a:lnSpc>
              <a:spcBef>
                <a:spcPts val="360"/>
              </a:spcBef>
              <a:spcAft>
                <a:spcPts val="0"/>
              </a:spcAft>
              <a:buSzPts val="1400"/>
              <a:buNone/>
              <a:defRPr/>
            </a:lvl2pPr>
            <a:lvl3pPr lvl="2" algn="l">
              <a:lnSpc>
                <a:spcPct val="100000"/>
              </a:lnSpc>
              <a:spcBef>
                <a:spcPts val="360"/>
              </a:spcBef>
              <a:spcAft>
                <a:spcPts val="0"/>
              </a:spcAft>
              <a:buSzPts val="1400"/>
              <a:buNone/>
              <a:defRPr/>
            </a:lvl3pPr>
            <a:lvl4pPr lvl="3" algn="l">
              <a:lnSpc>
                <a:spcPct val="100000"/>
              </a:lnSpc>
              <a:spcBef>
                <a:spcPts val="360"/>
              </a:spcBef>
              <a:spcAft>
                <a:spcPts val="0"/>
              </a:spcAft>
              <a:buSzPts val="1400"/>
              <a:buNone/>
              <a:defRPr/>
            </a:lvl4pPr>
            <a:lvl5pPr lvl="4" algn="l">
              <a:lnSpc>
                <a:spcPct val="100000"/>
              </a:lnSpc>
              <a:spcBef>
                <a:spcPts val="36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2643188" y="9353550"/>
            <a:ext cx="2486025" cy="503238"/>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0" type="dt"/>
          </p:nvPr>
        </p:nvSpPr>
        <p:spPr>
          <a:xfrm>
            <a:off x="388938" y="9353550"/>
            <a:ext cx="1787525" cy="27699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2" type="sldNum"/>
          </p:nvPr>
        </p:nvSpPr>
        <p:spPr>
          <a:xfrm>
            <a:off x="5595938" y="9353550"/>
            <a:ext cx="1787525" cy="276999"/>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8" name="Shape 28"/>
        <p:cNvGrpSpPr/>
        <p:nvPr/>
      </p:nvGrpSpPr>
      <p:grpSpPr>
        <a:xfrm>
          <a:off x="0" y="0"/>
          <a:ext cx="0" cy="0"/>
          <a:chOff x="0" y="0"/>
          <a:chExt cx="0" cy="0"/>
        </a:xfrm>
      </p:grpSpPr>
      <p:sp>
        <p:nvSpPr>
          <p:cNvPr id="29" name="Google Shape;29;p5"/>
          <p:cNvSpPr txBox="1"/>
          <p:nvPr>
            <p:ph type="title"/>
          </p:nvPr>
        </p:nvSpPr>
        <p:spPr>
          <a:xfrm>
            <a:off x="292100" y="965200"/>
            <a:ext cx="7188200" cy="1423988"/>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b="0" i="0" sz="2500">
                <a:solidFill>
                  <a:srgbClr val="4285F4"/>
                </a:solidFill>
                <a:latin typeface="Arial"/>
                <a:ea typeface="Arial"/>
                <a:cs typeface="Arial"/>
                <a:sym typeface="A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 name="Google Shape;30;p5"/>
          <p:cNvSpPr txBox="1"/>
          <p:nvPr>
            <p:ph idx="1" type="body"/>
          </p:nvPr>
        </p:nvSpPr>
        <p:spPr>
          <a:xfrm>
            <a:off x="388620" y="2313432"/>
            <a:ext cx="3380994" cy="6638544"/>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360"/>
              </a:spcBef>
              <a:spcAft>
                <a:spcPts val="0"/>
              </a:spcAft>
              <a:buSzPts val="1400"/>
              <a:buNone/>
              <a:defRPr/>
            </a:lvl1pPr>
            <a:lvl2pPr indent="-228600" lvl="1" marL="914400" algn="l">
              <a:lnSpc>
                <a:spcPct val="100000"/>
              </a:lnSpc>
              <a:spcBef>
                <a:spcPts val="360"/>
              </a:spcBef>
              <a:spcAft>
                <a:spcPts val="0"/>
              </a:spcAft>
              <a:buSzPts val="1400"/>
              <a:buNone/>
              <a:defRPr/>
            </a:lvl2pPr>
            <a:lvl3pPr indent="-228600" lvl="2" marL="1371600" algn="l">
              <a:lnSpc>
                <a:spcPct val="100000"/>
              </a:lnSpc>
              <a:spcBef>
                <a:spcPts val="360"/>
              </a:spcBef>
              <a:spcAft>
                <a:spcPts val="0"/>
              </a:spcAft>
              <a:buSzPts val="1400"/>
              <a:buNone/>
              <a:defRPr/>
            </a:lvl3pPr>
            <a:lvl4pPr indent="-228600" lvl="3" marL="1828800" algn="l">
              <a:lnSpc>
                <a:spcPct val="100000"/>
              </a:lnSpc>
              <a:spcBef>
                <a:spcPts val="360"/>
              </a:spcBef>
              <a:spcAft>
                <a:spcPts val="0"/>
              </a:spcAft>
              <a:buSzPts val="1400"/>
              <a:buNone/>
              <a:defRPr/>
            </a:lvl4pPr>
            <a:lvl5pPr indent="-228600" lvl="4" marL="2286000" algn="l">
              <a:lnSpc>
                <a:spcPct val="100000"/>
              </a:lnSpc>
              <a:spcBef>
                <a:spcPts val="36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1" name="Google Shape;31;p5"/>
          <p:cNvSpPr txBox="1"/>
          <p:nvPr>
            <p:ph idx="2" type="body"/>
          </p:nvPr>
        </p:nvSpPr>
        <p:spPr>
          <a:xfrm>
            <a:off x="4002786" y="2313432"/>
            <a:ext cx="3380994" cy="6638544"/>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360"/>
              </a:spcBef>
              <a:spcAft>
                <a:spcPts val="0"/>
              </a:spcAft>
              <a:buSzPts val="1400"/>
              <a:buNone/>
              <a:defRPr/>
            </a:lvl1pPr>
            <a:lvl2pPr indent="-228600" lvl="1" marL="914400" algn="l">
              <a:lnSpc>
                <a:spcPct val="100000"/>
              </a:lnSpc>
              <a:spcBef>
                <a:spcPts val="360"/>
              </a:spcBef>
              <a:spcAft>
                <a:spcPts val="0"/>
              </a:spcAft>
              <a:buSzPts val="1400"/>
              <a:buNone/>
              <a:defRPr/>
            </a:lvl2pPr>
            <a:lvl3pPr indent="-228600" lvl="2" marL="1371600" algn="l">
              <a:lnSpc>
                <a:spcPct val="100000"/>
              </a:lnSpc>
              <a:spcBef>
                <a:spcPts val="360"/>
              </a:spcBef>
              <a:spcAft>
                <a:spcPts val="0"/>
              </a:spcAft>
              <a:buSzPts val="1400"/>
              <a:buNone/>
              <a:defRPr/>
            </a:lvl3pPr>
            <a:lvl4pPr indent="-228600" lvl="3" marL="1828800" algn="l">
              <a:lnSpc>
                <a:spcPct val="100000"/>
              </a:lnSpc>
              <a:spcBef>
                <a:spcPts val="360"/>
              </a:spcBef>
              <a:spcAft>
                <a:spcPts val="0"/>
              </a:spcAft>
              <a:buSzPts val="1400"/>
              <a:buNone/>
              <a:defRPr/>
            </a:lvl4pPr>
            <a:lvl5pPr indent="-228600" lvl="4" marL="2286000" algn="l">
              <a:lnSpc>
                <a:spcPct val="100000"/>
              </a:lnSpc>
              <a:spcBef>
                <a:spcPts val="36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2" name="Google Shape;32;p5"/>
          <p:cNvSpPr txBox="1"/>
          <p:nvPr>
            <p:ph idx="11" type="ftr"/>
          </p:nvPr>
        </p:nvSpPr>
        <p:spPr>
          <a:xfrm>
            <a:off x="2643188" y="9353550"/>
            <a:ext cx="2486025" cy="503238"/>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0" type="dt"/>
          </p:nvPr>
        </p:nvSpPr>
        <p:spPr>
          <a:xfrm>
            <a:off x="388938" y="9353550"/>
            <a:ext cx="1787525" cy="27699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2" type="sldNum"/>
          </p:nvPr>
        </p:nvSpPr>
        <p:spPr>
          <a:xfrm>
            <a:off x="5595938" y="9353550"/>
            <a:ext cx="1787525" cy="276999"/>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5" name="Shape 35"/>
        <p:cNvGrpSpPr/>
        <p:nvPr/>
      </p:nvGrpSpPr>
      <p:grpSpPr>
        <a:xfrm>
          <a:off x="0" y="0"/>
          <a:ext cx="0" cy="0"/>
          <a:chOff x="0" y="0"/>
          <a:chExt cx="0" cy="0"/>
        </a:xfrm>
      </p:grpSpPr>
      <p:sp>
        <p:nvSpPr>
          <p:cNvPr id="36" name="Google Shape;36;p6"/>
          <p:cNvSpPr txBox="1"/>
          <p:nvPr>
            <p:ph type="title"/>
          </p:nvPr>
        </p:nvSpPr>
        <p:spPr>
          <a:xfrm>
            <a:off x="292100" y="965200"/>
            <a:ext cx="7188200" cy="1423988"/>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b="0" i="0" sz="2500">
                <a:solidFill>
                  <a:srgbClr val="4285F4"/>
                </a:solidFill>
                <a:latin typeface="Arial"/>
                <a:ea typeface="Arial"/>
                <a:cs typeface="Arial"/>
                <a:sym typeface="Aria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 name="Google Shape;37;p6"/>
          <p:cNvSpPr txBox="1"/>
          <p:nvPr>
            <p:ph idx="11" type="ftr"/>
          </p:nvPr>
        </p:nvSpPr>
        <p:spPr>
          <a:xfrm>
            <a:off x="2643188" y="9353550"/>
            <a:ext cx="2486025" cy="503238"/>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0" type="dt"/>
          </p:nvPr>
        </p:nvSpPr>
        <p:spPr>
          <a:xfrm>
            <a:off x="388938" y="9353550"/>
            <a:ext cx="1787525" cy="27699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5595938" y="9353550"/>
            <a:ext cx="1787525" cy="276999"/>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0" name="Shape 40"/>
        <p:cNvGrpSpPr/>
        <p:nvPr/>
      </p:nvGrpSpPr>
      <p:grpSpPr>
        <a:xfrm>
          <a:off x="0" y="0"/>
          <a:ext cx="0" cy="0"/>
          <a:chOff x="0" y="0"/>
          <a:chExt cx="0" cy="0"/>
        </a:xfrm>
      </p:grpSpPr>
      <p:sp>
        <p:nvSpPr>
          <p:cNvPr id="41" name="Google Shape;41;p7"/>
          <p:cNvSpPr txBox="1"/>
          <p:nvPr>
            <p:ph idx="11" type="ftr"/>
          </p:nvPr>
        </p:nvSpPr>
        <p:spPr>
          <a:xfrm>
            <a:off x="2643188" y="9353550"/>
            <a:ext cx="2486025" cy="503238"/>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0" type="dt"/>
          </p:nvPr>
        </p:nvSpPr>
        <p:spPr>
          <a:xfrm>
            <a:off x="388938" y="9353550"/>
            <a:ext cx="1787525" cy="27699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7"/>
          <p:cNvSpPr txBox="1"/>
          <p:nvPr>
            <p:ph idx="12" type="sldNum"/>
          </p:nvPr>
        </p:nvSpPr>
        <p:spPr>
          <a:xfrm>
            <a:off x="5595938" y="9353550"/>
            <a:ext cx="1787525" cy="276999"/>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1">
            <a:alphaModFix/>
          </a:blip>
          <a:srcRect b="0" l="0" r="0" t="0"/>
          <a:stretch/>
        </p:blipFill>
        <p:spPr>
          <a:xfrm>
            <a:off x="2579688" y="546100"/>
            <a:ext cx="2613025" cy="355600"/>
          </a:xfrm>
          <a:prstGeom prst="rect">
            <a:avLst/>
          </a:prstGeom>
          <a:noFill/>
          <a:ln>
            <a:noFill/>
          </a:ln>
        </p:spPr>
      </p:pic>
      <p:sp>
        <p:nvSpPr>
          <p:cNvPr id="11" name="Google Shape;11;p2"/>
          <p:cNvSpPr txBox="1"/>
          <p:nvPr>
            <p:ph type="title"/>
          </p:nvPr>
        </p:nvSpPr>
        <p:spPr>
          <a:xfrm>
            <a:off x="292100" y="965200"/>
            <a:ext cx="7188200" cy="1423988"/>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chemeClr val="dk2"/>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1800" u="none" cap="none" strike="noStrike">
                <a:solidFill>
                  <a:schemeClr val="dk2"/>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1800" u="none" cap="none" strike="noStrike">
                <a:solidFill>
                  <a:schemeClr val="dk2"/>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1800" u="none" cap="none" strike="noStrike">
                <a:solidFill>
                  <a:schemeClr val="dk2"/>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1800" u="none" cap="none" strike="noStrike">
                <a:solidFill>
                  <a:schemeClr val="dk2"/>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1800" u="none" cap="none" strike="noStrike">
                <a:solidFill>
                  <a:schemeClr val="dk2"/>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1800" u="none" cap="none" strike="noStrike">
                <a:solidFill>
                  <a:schemeClr val="dk2"/>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1800" u="none" cap="none" strike="noStrike">
                <a:solidFill>
                  <a:schemeClr val="dk2"/>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1800" u="none" cap="none" strike="noStrike">
                <a:solidFill>
                  <a:schemeClr val="dk2"/>
                </a:solidFill>
                <a:latin typeface="Calibri"/>
                <a:ea typeface="Calibri"/>
                <a:cs typeface="Calibri"/>
                <a:sym typeface="Calibri"/>
              </a:defRPr>
            </a:lvl9pPr>
          </a:lstStyle>
          <a:p/>
        </p:txBody>
      </p:sp>
      <p:sp>
        <p:nvSpPr>
          <p:cNvPr id="12" name="Google Shape;12;p2"/>
          <p:cNvSpPr txBox="1"/>
          <p:nvPr>
            <p:ph idx="1" type="body"/>
          </p:nvPr>
        </p:nvSpPr>
        <p:spPr>
          <a:xfrm>
            <a:off x="388938" y="2312988"/>
            <a:ext cx="6994525" cy="6638925"/>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36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3" name="Google Shape;13;p2"/>
          <p:cNvSpPr txBox="1"/>
          <p:nvPr>
            <p:ph idx="11" type="ftr"/>
          </p:nvPr>
        </p:nvSpPr>
        <p:spPr>
          <a:xfrm>
            <a:off x="2643188" y="9353550"/>
            <a:ext cx="2486025" cy="503238"/>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
          <p:cNvSpPr txBox="1"/>
          <p:nvPr>
            <p:ph idx="10" type="dt"/>
          </p:nvPr>
        </p:nvSpPr>
        <p:spPr>
          <a:xfrm>
            <a:off x="388938" y="9353550"/>
            <a:ext cx="1787525" cy="276999"/>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5" name="Google Shape;15;p2"/>
          <p:cNvSpPr txBox="1"/>
          <p:nvPr>
            <p:ph idx="12" type="sldNum"/>
          </p:nvPr>
        </p:nvSpPr>
        <p:spPr>
          <a:xfrm>
            <a:off x="5595938" y="9353550"/>
            <a:ext cx="1787525" cy="276999"/>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row.google/certificates/data-analytics/%23?modal_active=none" TargetMode="External"/><Relationship Id="rId4" Type="http://schemas.openxmlformats.org/officeDocument/2006/relationships/hyperlink" Target="https://grow.google/certificates/data-analytics/continue-learning?utm_source=offline&amp;utm_medium=collateral&amp;utm_campaign=advanced-da__geo--US&amp;utm_content=ada-onepager" TargetMode="External"/><Relationship Id="rId9"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6.png"/><Relationship Id="rId8"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1"/>
          <p:cNvSpPr txBox="1"/>
          <p:nvPr>
            <p:ph type="title"/>
          </p:nvPr>
        </p:nvSpPr>
        <p:spPr>
          <a:xfrm>
            <a:off x="292100" y="812800"/>
            <a:ext cx="7188300" cy="1696500"/>
          </a:xfrm>
          <a:prstGeom prst="rect">
            <a:avLst/>
          </a:prstGeom>
          <a:noFill/>
          <a:ln>
            <a:noFill/>
          </a:ln>
        </p:spPr>
        <p:txBody>
          <a:bodyPr anchorCtr="0" anchor="t" bIns="0" lIns="0" spcFirstLastPara="1" rIns="0" wrap="square" tIns="132075">
            <a:spAutoFit/>
          </a:bodyPr>
          <a:lstStyle/>
          <a:p>
            <a:pPr indent="0" lvl="0" marL="73025" rtl="0" algn="just">
              <a:lnSpc>
                <a:spcPct val="115000"/>
              </a:lnSpc>
              <a:spcBef>
                <a:spcPts val="0"/>
              </a:spcBef>
              <a:spcAft>
                <a:spcPts val="0"/>
              </a:spcAft>
              <a:buSzPts val="1400"/>
              <a:buNone/>
            </a:pPr>
            <a:r>
              <a:rPr lang="en-US">
                <a:latin typeface="Roboto"/>
                <a:ea typeface="Roboto"/>
                <a:cs typeface="Roboto"/>
                <a:sym typeface="Roboto"/>
              </a:rPr>
              <a:t>Chứng chỉ Phân tích dữ liệu nâng cao của Google</a:t>
            </a:r>
            <a:br>
              <a:rPr lang="en-US">
                <a:latin typeface="Roboto"/>
                <a:ea typeface="Roboto"/>
                <a:cs typeface="Roboto"/>
                <a:sym typeface="Roboto"/>
              </a:rPr>
            </a:br>
            <a:r>
              <a:rPr lang="en-US" sz="1300">
                <a:solidFill>
                  <a:srgbClr val="434343"/>
                </a:solidFill>
                <a:latin typeface="Roboto"/>
                <a:ea typeface="Roboto"/>
                <a:cs typeface="Roboto"/>
                <a:sym typeface="Roboto"/>
              </a:rPr>
              <a:t>Nâng tầm kỹ năng phân tích dữ liệu bằng chứng chỉ phân tích dữ liệu nâng cao. Chương trình này được thiết kế dành cho những người làm việc trong lĩnh vực phân tích dữ liệu hoặc đã tốt nghiệp chương trình </a:t>
            </a:r>
            <a:r>
              <a:rPr lang="en-US" sz="1300" u="sng">
                <a:solidFill>
                  <a:schemeClr val="hlink"/>
                </a:solidFill>
                <a:latin typeface="Roboto"/>
                <a:ea typeface="Roboto"/>
                <a:cs typeface="Roboto"/>
                <a:sym typeface="Roboto"/>
                <a:hlinkClick r:id="rId3"/>
              </a:rPr>
              <a:t>Chứng chỉ Phân tích dữ liệu của Google</a:t>
            </a:r>
            <a:r>
              <a:rPr lang="en-US" sz="1300">
                <a:solidFill>
                  <a:srgbClr val="434343"/>
                </a:solidFill>
                <a:latin typeface="Roboto"/>
                <a:ea typeface="Roboto"/>
                <a:cs typeface="Roboto"/>
                <a:sym typeface="Roboto"/>
              </a:rPr>
              <a:t>. Bạn sẽ được nâng cấp kỹ năng chuyên môn bằng các công cụ như Jupyter Notebook, Python và Tableau, từ đó mở ra các cơ hội mới để thăng tiến trong sự nghiệp.</a:t>
            </a:r>
            <a:endParaRPr sz="1300">
              <a:latin typeface="Roboto"/>
              <a:ea typeface="Roboto"/>
              <a:cs typeface="Roboto"/>
              <a:sym typeface="Roboto"/>
            </a:endParaRPr>
          </a:p>
        </p:txBody>
      </p:sp>
      <p:sp>
        <p:nvSpPr>
          <p:cNvPr id="50" name="Google Shape;50;p1"/>
          <p:cNvSpPr txBox="1"/>
          <p:nvPr/>
        </p:nvSpPr>
        <p:spPr>
          <a:xfrm>
            <a:off x="636605" y="2578100"/>
            <a:ext cx="6478500" cy="213000"/>
          </a:xfrm>
          <a:prstGeom prst="rect">
            <a:avLst/>
          </a:prstGeom>
          <a:noFill/>
          <a:ln>
            <a:noFill/>
          </a:ln>
        </p:spPr>
        <p:txBody>
          <a:bodyPr anchorCtr="0" anchor="t" bIns="0" lIns="0" spcFirstLastPara="1" rIns="0" wrap="square" tIns="12700">
            <a:spAutoFit/>
          </a:bodyPr>
          <a:lstStyle/>
          <a:p>
            <a:pPr indent="0" lvl="0" marL="0" marR="0" rtl="0" algn="ctr">
              <a:lnSpc>
                <a:spcPct val="100000"/>
              </a:lnSpc>
              <a:spcBef>
                <a:spcPts val="0"/>
              </a:spcBef>
              <a:spcAft>
                <a:spcPts val="0"/>
              </a:spcAft>
              <a:buClr>
                <a:srgbClr val="000000"/>
              </a:buClr>
              <a:buSzPts val="1350"/>
              <a:buFont typeface="Arial"/>
              <a:buNone/>
            </a:pPr>
            <a:r>
              <a:rPr b="1" i="0" lang="en-US" sz="1300" u="none" cap="none" strike="noStrike">
                <a:solidFill>
                  <a:srgbClr val="434343"/>
                </a:solidFill>
                <a:latin typeface="Roboto"/>
                <a:ea typeface="Roboto"/>
                <a:cs typeface="Roboto"/>
                <a:sym typeface="Roboto"/>
              </a:rPr>
              <a:t>Phát triển sự nghiệp của bạn tại </a:t>
            </a:r>
            <a:r>
              <a:rPr b="1" i="0" lang="en-US" sz="1300" u="sng" cap="none" strike="noStrike">
                <a:solidFill>
                  <a:schemeClr val="hlink"/>
                </a:solidFill>
                <a:latin typeface="Roboto"/>
                <a:ea typeface="Roboto"/>
                <a:cs typeface="Roboto"/>
                <a:sym typeface="Roboto"/>
                <a:hlinkClick r:id="rId4"/>
              </a:rPr>
              <a:t>grow.google/advancedDA</a:t>
            </a:r>
            <a:endParaRPr b="1" i="0" sz="1300" u="none" cap="none" strike="noStrike">
              <a:solidFill>
                <a:srgbClr val="000000"/>
              </a:solidFill>
              <a:latin typeface="Roboto"/>
              <a:ea typeface="Roboto"/>
              <a:cs typeface="Roboto"/>
              <a:sym typeface="Roboto"/>
            </a:endParaRPr>
          </a:p>
        </p:txBody>
      </p:sp>
      <p:sp>
        <p:nvSpPr>
          <p:cNvPr id="51" name="Google Shape;51;p1"/>
          <p:cNvSpPr txBox="1"/>
          <p:nvPr/>
        </p:nvSpPr>
        <p:spPr>
          <a:xfrm>
            <a:off x="639781" y="4908550"/>
            <a:ext cx="6633000" cy="1905900"/>
          </a:xfrm>
          <a:prstGeom prst="rect">
            <a:avLst/>
          </a:prstGeom>
          <a:noFill/>
          <a:ln>
            <a:noFill/>
          </a:ln>
        </p:spPr>
        <p:txBody>
          <a:bodyPr anchorCtr="0" anchor="t" bIns="0" lIns="0" spcFirstLastPara="1" rIns="0" wrap="square" tIns="12700">
            <a:spAutoFit/>
          </a:bodyPr>
          <a:lstStyle/>
          <a:p>
            <a:pPr indent="0" lvl="0" marL="12700" marR="0" rtl="0" algn="l">
              <a:lnSpc>
                <a:spcPct val="114000"/>
              </a:lnSpc>
              <a:spcBef>
                <a:spcPts val="0"/>
              </a:spcBef>
              <a:spcAft>
                <a:spcPts val="0"/>
              </a:spcAft>
              <a:buClr>
                <a:srgbClr val="000000"/>
              </a:buClr>
              <a:buSzPts val="1100"/>
              <a:buFont typeface="Arial"/>
              <a:buNone/>
            </a:pPr>
            <a:r>
              <a:rPr i="0" lang="en-US" sz="1300" u="none" cap="none" strike="noStrike">
                <a:solidFill>
                  <a:srgbClr val="434343"/>
                </a:solidFill>
                <a:latin typeface="Roboto"/>
                <a:ea typeface="Roboto"/>
                <a:cs typeface="Roboto"/>
                <a:sym typeface="Roboto"/>
              </a:rPr>
              <a:t>Phân tích dữ liệu nâng cao (còn được gọi là khoa học dữ liệu) sử dụng toán học và thống kê, lập trình, phân tích số liệu nâng cao, trí tuệ nhân tạo (AI) và học máy để khám phá thông tin chuyên sâu quan trọng trong dữ liệu của tổ chức. Thông tin chuyên sâu này có thể dùng để định hướng việc ra quyết định và hoạch định chiến lược cho tổ chức.</a:t>
            </a:r>
            <a:endParaRPr i="0" sz="1300" u="none" cap="none" strike="noStrike">
              <a:solidFill>
                <a:srgbClr val="000000"/>
              </a:solidFill>
              <a:latin typeface="Roboto"/>
              <a:ea typeface="Roboto"/>
              <a:cs typeface="Roboto"/>
              <a:sym typeface="Roboto"/>
            </a:endParaRPr>
          </a:p>
          <a:p>
            <a:pPr indent="0" lvl="0" marL="12700" marR="0" rtl="0" algn="l">
              <a:lnSpc>
                <a:spcPct val="114000"/>
              </a:lnSpc>
              <a:spcBef>
                <a:spcPts val="750"/>
              </a:spcBef>
              <a:spcAft>
                <a:spcPts val="0"/>
              </a:spcAft>
              <a:buClr>
                <a:srgbClr val="000000"/>
              </a:buClr>
              <a:buSzPts val="1100"/>
              <a:buFont typeface="Arial"/>
              <a:buNone/>
            </a:pPr>
            <a:r>
              <a:rPr i="0" lang="en-US" sz="1300" u="none" cap="none" strike="noStrike">
                <a:solidFill>
                  <a:srgbClr val="434343"/>
                </a:solidFill>
                <a:latin typeface="Roboto"/>
                <a:ea typeface="Roboto"/>
                <a:cs typeface="Roboto"/>
                <a:sym typeface="Roboto"/>
              </a:rPr>
              <a:t>Chuyên viên phân tích dữ liệu cấp cao và nhà khoa học dữ liệu chịu trách nhiệm thu thập, phân tích và diễn giải lượng dữ liệu cực lớn trong các tổ chức. Những vai trò này đòi hỏi việc chỉnh sửa tập dữ liệu lớn và áp dụng quy trình phân tích số liệu nâng cao, bao gồm cả học máy, mô hình dự đoán và thiết kế thử nghiệm.</a:t>
            </a:r>
            <a:endParaRPr i="0" sz="1300" u="none" cap="none" strike="noStrike">
              <a:solidFill>
                <a:srgbClr val="000000"/>
              </a:solidFill>
              <a:latin typeface="Roboto"/>
              <a:ea typeface="Roboto"/>
              <a:cs typeface="Roboto"/>
              <a:sym typeface="Roboto"/>
            </a:endParaRPr>
          </a:p>
        </p:txBody>
      </p:sp>
      <p:sp>
        <p:nvSpPr>
          <p:cNvPr id="52" name="Google Shape;52;p1"/>
          <p:cNvSpPr txBox="1"/>
          <p:nvPr/>
        </p:nvSpPr>
        <p:spPr>
          <a:xfrm>
            <a:off x="104775" y="9799650"/>
            <a:ext cx="5500200" cy="12060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600"/>
              <a:buFont typeface="Arial"/>
              <a:buNone/>
            </a:pPr>
            <a:r>
              <a:rPr b="0" baseline="30000" i="0" lang="en-US" sz="600" u="none" cap="none" strike="noStrike">
                <a:solidFill>
                  <a:schemeClr val="dk1"/>
                </a:solidFill>
                <a:latin typeface="Arial"/>
                <a:ea typeface="Arial"/>
                <a:cs typeface="Arial"/>
                <a:sym typeface="Arial"/>
              </a:rPr>
              <a:t>1 </a:t>
            </a:r>
            <a:r>
              <a:rPr b="0" i="0" lang="en-US" sz="700" u="none" cap="none" strike="noStrike">
                <a:solidFill>
                  <a:schemeClr val="dk1"/>
                </a:solidFill>
                <a:latin typeface="Arial"/>
                <a:ea typeface="Arial"/>
                <a:cs typeface="Arial"/>
                <a:sym typeface="Arial"/>
              </a:rPr>
              <a:t>Dữ liệu của Lightcast™ về tin tuyển dụng tại Hoa Kỳ (12 tháng trước: 01/01/2022 – 31/12/2022).</a:t>
            </a:r>
            <a:endParaRPr b="0" i="0" sz="700" u="none" cap="none" strike="noStrike">
              <a:solidFill>
                <a:srgbClr val="000000"/>
              </a:solidFill>
              <a:latin typeface="Arial"/>
              <a:ea typeface="Arial"/>
              <a:cs typeface="Arial"/>
              <a:sym typeface="Arial"/>
            </a:endParaRPr>
          </a:p>
        </p:txBody>
      </p:sp>
      <p:sp>
        <p:nvSpPr>
          <p:cNvPr id="53" name="Google Shape;53;p1"/>
          <p:cNvSpPr/>
          <p:nvPr/>
        </p:nvSpPr>
        <p:spPr>
          <a:xfrm>
            <a:off x="428625" y="3022600"/>
            <a:ext cx="6915150" cy="0"/>
          </a:xfrm>
          <a:custGeom>
            <a:rect b="b" l="l" r="r" t="t"/>
            <a:pathLst>
              <a:path extrusionOk="0" h="635" w="6914515">
                <a:moveTo>
                  <a:pt x="0" y="0"/>
                </a:moveTo>
                <a:lnTo>
                  <a:pt x="6914099" y="0"/>
                </a:lnTo>
              </a:path>
            </a:pathLst>
          </a:custGeom>
          <a:noFill/>
          <a:ln cap="flat" cmpd="sng" w="9525">
            <a:solidFill>
              <a:srgbClr val="D9D9D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 name="Google Shape;54;p1"/>
          <p:cNvSpPr/>
          <p:nvPr/>
        </p:nvSpPr>
        <p:spPr>
          <a:xfrm>
            <a:off x="368300" y="7269163"/>
            <a:ext cx="6913563" cy="0"/>
          </a:xfrm>
          <a:custGeom>
            <a:rect b="b" l="l" r="r" t="t"/>
            <a:pathLst>
              <a:path extrusionOk="0" h="634" w="6914515">
                <a:moveTo>
                  <a:pt x="0" y="0"/>
                </a:moveTo>
                <a:lnTo>
                  <a:pt x="6914099" y="0"/>
                </a:lnTo>
              </a:path>
            </a:pathLst>
          </a:custGeom>
          <a:noFill/>
          <a:ln cap="flat" cmpd="sng" w="9525">
            <a:solidFill>
              <a:srgbClr val="D9D9D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 name="Google Shape;55;p1"/>
          <p:cNvSpPr txBox="1"/>
          <p:nvPr/>
        </p:nvSpPr>
        <p:spPr>
          <a:xfrm>
            <a:off x="486625" y="7416800"/>
            <a:ext cx="6786300" cy="2436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1500"/>
              <a:buFont typeface="Arial"/>
              <a:buNone/>
            </a:pPr>
            <a:r>
              <a:rPr b="1" i="0" lang="en-US" sz="1500" u="none" cap="none" strike="noStrike">
                <a:solidFill>
                  <a:srgbClr val="4285F4"/>
                </a:solidFill>
                <a:latin typeface="Roboto"/>
                <a:ea typeface="Roboto"/>
                <a:cs typeface="Roboto"/>
                <a:sym typeface="Roboto"/>
              </a:rPr>
              <a:t>Vì sao bạn nên có Chứng chỉ Phân tích dữ liệu nâng cao của Google?</a:t>
            </a:r>
            <a:endParaRPr b="1" i="0" sz="1500" u="none" cap="none" strike="noStrike">
              <a:solidFill>
                <a:srgbClr val="000000"/>
              </a:solidFill>
              <a:latin typeface="Roboto"/>
              <a:ea typeface="Roboto"/>
              <a:cs typeface="Roboto"/>
              <a:sym typeface="Roboto"/>
            </a:endParaRPr>
          </a:p>
        </p:txBody>
      </p:sp>
      <p:sp>
        <p:nvSpPr>
          <p:cNvPr id="56" name="Google Shape;56;p1"/>
          <p:cNvSpPr txBox="1"/>
          <p:nvPr/>
        </p:nvSpPr>
        <p:spPr>
          <a:xfrm>
            <a:off x="4440252" y="7718425"/>
            <a:ext cx="2841600" cy="909900"/>
          </a:xfrm>
          <a:prstGeom prst="rect">
            <a:avLst/>
          </a:prstGeom>
          <a:noFill/>
          <a:ln>
            <a:noFill/>
          </a:ln>
        </p:spPr>
        <p:txBody>
          <a:bodyPr anchorCtr="0" anchor="t" bIns="0" lIns="0" spcFirstLastPara="1" rIns="0" wrap="square" tIns="67300">
            <a:spAutoFit/>
          </a:bodyPr>
          <a:lstStyle/>
          <a:p>
            <a:pPr indent="0" lvl="0" marL="12700" marR="0" rtl="0" algn="l">
              <a:lnSpc>
                <a:spcPct val="100000"/>
              </a:lnSpc>
              <a:spcBef>
                <a:spcPts val="0"/>
              </a:spcBef>
              <a:spcAft>
                <a:spcPts val="0"/>
              </a:spcAft>
              <a:buClr>
                <a:srgbClr val="000000"/>
              </a:buClr>
              <a:buSzPts val="1500"/>
              <a:buFont typeface="Arial"/>
              <a:buNone/>
            </a:pPr>
            <a:r>
              <a:rPr i="0" lang="en-US" sz="1500" u="none" cap="none" strike="noStrike">
                <a:solidFill>
                  <a:srgbClr val="434343"/>
                </a:solidFill>
                <a:latin typeface="Roboto"/>
                <a:ea typeface="Roboto"/>
                <a:cs typeface="Roboto"/>
                <a:sym typeface="Roboto"/>
              </a:rPr>
              <a:t>Tiếp cận những công việc có nhu cầu nhân sự cao:</a:t>
            </a:r>
            <a:endParaRPr i="0" sz="1500" u="none" cap="none" strike="noStrike">
              <a:solidFill>
                <a:srgbClr val="000000"/>
              </a:solidFill>
              <a:latin typeface="Roboto"/>
              <a:ea typeface="Roboto"/>
              <a:cs typeface="Roboto"/>
              <a:sym typeface="Roboto"/>
            </a:endParaRPr>
          </a:p>
          <a:p>
            <a:pPr indent="0" lvl="0" marL="12700" marR="0" rtl="0" algn="l">
              <a:lnSpc>
                <a:spcPct val="114000"/>
              </a:lnSpc>
              <a:spcBef>
                <a:spcPts val="138"/>
              </a:spcBef>
              <a:spcAft>
                <a:spcPts val="0"/>
              </a:spcAft>
              <a:buClr>
                <a:srgbClr val="000000"/>
              </a:buClr>
              <a:buSzPts val="1100"/>
              <a:buFont typeface="Arial"/>
              <a:buNone/>
            </a:pPr>
            <a:r>
              <a:rPr i="0" lang="en-US" sz="1100" u="none" cap="none" strike="noStrike">
                <a:solidFill>
                  <a:srgbClr val="434343"/>
                </a:solidFill>
                <a:latin typeface="Roboto"/>
                <a:ea typeface="Roboto"/>
                <a:cs typeface="Roboto"/>
                <a:sym typeface="Roboto"/>
              </a:rPr>
              <a:t>Kết nối với những nhà tuyển dụng hàng đầu như Deloitte, Target, Verizon và Google.</a:t>
            </a:r>
            <a:endParaRPr i="0" sz="1100" u="none" cap="none" strike="noStrike">
              <a:solidFill>
                <a:srgbClr val="000000"/>
              </a:solidFill>
              <a:latin typeface="Roboto"/>
              <a:ea typeface="Roboto"/>
              <a:cs typeface="Roboto"/>
              <a:sym typeface="Roboto"/>
            </a:endParaRPr>
          </a:p>
        </p:txBody>
      </p:sp>
      <p:sp>
        <p:nvSpPr>
          <p:cNvPr id="57" name="Google Shape;57;p1"/>
          <p:cNvSpPr txBox="1"/>
          <p:nvPr/>
        </p:nvSpPr>
        <p:spPr>
          <a:xfrm>
            <a:off x="706452" y="7718425"/>
            <a:ext cx="2941800" cy="678900"/>
          </a:xfrm>
          <a:prstGeom prst="rect">
            <a:avLst/>
          </a:prstGeom>
          <a:noFill/>
          <a:ln>
            <a:noFill/>
          </a:ln>
        </p:spPr>
        <p:txBody>
          <a:bodyPr anchorCtr="0" anchor="t" bIns="0" lIns="0" spcFirstLastPara="1" rIns="0" wrap="square" tIns="67300">
            <a:spAutoFit/>
          </a:bodyPr>
          <a:lstStyle/>
          <a:p>
            <a:pPr indent="0" lvl="0" marL="12700" marR="0" rtl="0" algn="l">
              <a:lnSpc>
                <a:spcPct val="100000"/>
              </a:lnSpc>
              <a:spcBef>
                <a:spcPts val="0"/>
              </a:spcBef>
              <a:spcAft>
                <a:spcPts val="0"/>
              </a:spcAft>
              <a:buClr>
                <a:srgbClr val="000000"/>
              </a:buClr>
              <a:buSzPts val="1500"/>
              <a:buFont typeface="Arial"/>
              <a:buNone/>
            </a:pPr>
            <a:r>
              <a:rPr i="0" lang="en-US" sz="1500" u="none" cap="none" strike="noStrike">
                <a:solidFill>
                  <a:srgbClr val="434343"/>
                </a:solidFill>
                <a:latin typeface="Roboto"/>
                <a:ea typeface="Roboto"/>
                <a:cs typeface="Roboto"/>
                <a:sym typeface="Roboto"/>
              </a:rPr>
              <a:t>Phát triển sự nghiệp:</a:t>
            </a:r>
            <a:endParaRPr i="0" sz="1500" u="none" cap="none" strike="noStrike">
              <a:solidFill>
                <a:srgbClr val="000000"/>
              </a:solidFill>
              <a:latin typeface="Roboto"/>
              <a:ea typeface="Roboto"/>
              <a:cs typeface="Roboto"/>
              <a:sym typeface="Roboto"/>
            </a:endParaRPr>
          </a:p>
          <a:p>
            <a:pPr indent="0" lvl="0" marL="12700" marR="0" rtl="0" algn="l">
              <a:lnSpc>
                <a:spcPct val="114000"/>
              </a:lnSpc>
              <a:spcBef>
                <a:spcPts val="138"/>
              </a:spcBef>
              <a:spcAft>
                <a:spcPts val="0"/>
              </a:spcAft>
              <a:buClr>
                <a:srgbClr val="000000"/>
              </a:buClr>
              <a:buSzPts val="1100"/>
              <a:buFont typeface="Arial"/>
              <a:buNone/>
            </a:pPr>
            <a:r>
              <a:rPr i="0" lang="en-US" sz="1100" u="none" cap="none" strike="noStrike">
                <a:solidFill>
                  <a:srgbClr val="434343"/>
                </a:solidFill>
                <a:latin typeface="Roboto"/>
                <a:ea typeface="Roboto"/>
                <a:cs typeface="Roboto"/>
                <a:sym typeface="Roboto"/>
              </a:rPr>
              <a:t>Trau dồi kỹ năng và khám phá những cơ hội nghề nghiệp có mức lương cao hơn.</a:t>
            </a:r>
            <a:endParaRPr i="0" sz="1100" u="none" cap="none" strike="noStrike">
              <a:solidFill>
                <a:srgbClr val="000000"/>
              </a:solidFill>
              <a:latin typeface="Roboto"/>
              <a:ea typeface="Roboto"/>
              <a:cs typeface="Roboto"/>
              <a:sym typeface="Roboto"/>
            </a:endParaRPr>
          </a:p>
        </p:txBody>
      </p:sp>
      <p:sp>
        <p:nvSpPr>
          <p:cNvPr id="58" name="Google Shape;58;p1"/>
          <p:cNvSpPr txBox="1"/>
          <p:nvPr/>
        </p:nvSpPr>
        <p:spPr>
          <a:xfrm>
            <a:off x="706450" y="8693150"/>
            <a:ext cx="3489600" cy="871800"/>
          </a:xfrm>
          <a:prstGeom prst="rect">
            <a:avLst/>
          </a:prstGeom>
          <a:noFill/>
          <a:ln>
            <a:noFill/>
          </a:ln>
        </p:spPr>
        <p:txBody>
          <a:bodyPr anchorCtr="0" anchor="t" bIns="0" lIns="0" spcFirstLastPara="1" rIns="0" wrap="square" tIns="67300">
            <a:spAutoFit/>
          </a:bodyPr>
          <a:lstStyle/>
          <a:p>
            <a:pPr indent="0" lvl="0" marL="12700" marR="0" rtl="0" algn="l">
              <a:lnSpc>
                <a:spcPct val="100000"/>
              </a:lnSpc>
              <a:spcBef>
                <a:spcPts val="0"/>
              </a:spcBef>
              <a:spcAft>
                <a:spcPts val="0"/>
              </a:spcAft>
              <a:buClr>
                <a:srgbClr val="000000"/>
              </a:buClr>
              <a:buSzPts val="1500"/>
              <a:buFont typeface="Arial"/>
              <a:buNone/>
            </a:pPr>
            <a:r>
              <a:rPr i="0" lang="en-US" sz="1500" u="none" cap="none" strike="noStrike">
                <a:solidFill>
                  <a:srgbClr val="434343"/>
                </a:solidFill>
                <a:latin typeface="Roboto"/>
                <a:ea typeface="Roboto"/>
                <a:cs typeface="Roboto"/>
                <a:sym typeface="Roboto"/>
              </a:rPr>
              <a:t>Học theo tiến độ phù hợp với cá nhân:</a:t>
            </a:r>
            <a:endParaRPr i="0" sz="1500" u="none" cap="none" strike="noStrike">
              <a:solidFill>
                <a:srgbClr val="000000"/>
              </a:solidFill>
              <a:latin typeface="Roboto"/>
              <a:ea typeface="Roboto"/>
              <a:cs typeface="Roboto"/>
              <a:sym typeface="Roboto"/>
            </a:endParaRPr>
          </a:p>
          <a:p>
            <a:pPr indent="0" lvl="0" marL="12700" marR="0" rtl="0" algn="l">
              <a:lnSpc>
                <a:spcPct val="114000"/>
              </a:lnSpc>
              <a:spcBef>
                <a:spcPts val="138"/>
              </a:spcBef>
              <a:spcAft>
                <a:spcPts val="0"/>
              </a:spcAft>
              <a:buClr>
                <a:srgbClr val="000000"/>
              </a:buClr>
              <a:buSzPts val="1100"/>
              <a:buFont typeface="Arial"/>
              <a:buNone/>
            </a:pPr>
            <a:r>
              <a:rPr i="0" lang="en-US" sz="1100" u="none" cap="none" strike="noStrike">
                <a:solidFill>
                  <a:srgbClr val="434343"/>
                </a:solidFill>
                <a:latin typeface="Roboto"/>
                <a:ea typeface="Roboto"/>
                <a:cs typeface="Roboto"/>
                <a:sym typeface="Roboto"/>
              </a:rPr>
              <a:t>Hoàn thành chương trình học trực tuyến trong vòng chưa đầy 6 tháng, với thời lượng học khoảng 10 giờ mỗi tuần.</a:t>
            </a:r>
            <a:endParaRPr i="0" sz="1100" u="none" cap="none" strike="noStrike">
              <a:solidFill>
                <a:srgbClr val="000000"/>
              </a:solidFill>
              <a:latin typeface="Roboto"/>
              <a:ea typeface="Roboto"/>
              <a:cs typeface="Roboto"/>
              <a:sym typeface="Roboto"/>
            </a:endParaRPr>
          </a:p>
        </p:txBody>
      </p:sp>
      <p:sp>
        <p:nvSpPr>
          <p:cNvPr id="59" name="Google Shape;59;p1"/>
          <p:cNvSpPr txBox="1"/>
          <p:nvPr/>
        </p:nvSpPr>
        <p:spPr>
          <a:xfrm>
            <a:off x="4440253" y="8693150"/>
            <a:ext cx="2941800" cy="678900"/>
          </a:xfrm>
          <a:prstGeom prst="rect">
            <a:avLst/>
          </a:prstGeom>
          <a:noFill/>
          <a:ln>
            <a:noFill/>
          </a:ln>
        </p:spPr>
        <p:txBody>
          <a:bodyPr anchorCtr="0" anchor="t" bIns="0" lIns="0" spcFirstLastPara="1" rIns="0" wrap="square" tIns="67300">
            <a:spAutoFit/>
          </a:bodyPr>
          <a:lstStyle/>
          <a:p>
            <a:pPr indent="0" lvl="0" marL="12700" marR="0" rtl="0" algn="l">
              <a:lnSpc>
                <a:spcPct val="100000"/>
              </a:lnSpc>
              <a:spcBef>
                <a:spcPts val="0"/>
              </a:spcBef>
              <a:spcAft>
                <a:spcPts val="0"/>
              </a:spcAft>
              <a:buClr>
                <a:srgbClr val="000000"/>
              </a:buClr>
              <a:buSzPts val="1500"/>
              <a:buFont typeface="Arial"/>
              <a:buNone/>
            </a:pPr>
            <a:r>
              <a:rPr i="0" lang="en-US" sz="1500" u="none" cap="none" strike="noStrike">
                <a:solidFill>
                  <a:srgbClr val="434343"/>
                </a:solidFill>
                <a:latin typeface="Roboto"/>
                <a:ea typeface="Roboto"/>
                <a:cs typeface="Roboto"/>
                <a:sym typeface="Roboto"/>
              </a:rPr>
              <a:t>Nổi bật trước các nhà tuyển dụng:</a:t>
            </a:r>
            <a:endParaRPr i="0" sz="1500" u="none" cap="none" strike="noStrike">
              <a:solidFill>
                <a:srgbClr val="000000"/>
              </a:solidFill>
              <a:latin typeface="Roboto"/>
              <a:ea typeface="Roboto"/>
              <a:cs typeface="Roboto"/>
              <a:sym typeface="Roboto"/>
            </a:endParaRPr>
          </a:p>
          <a:p>
            <a:pPr indent="0" lvl="0" marL="12700" marR="0" rtl="0" algn="l">
              <a:lnSpc>
                <a:spcPct val="114000"/>
              </a:lnSpc>
              <a:spcBef>
                <a:spcPts val="138"/>
              </a:spcBef>
              <a:spcAft>
                <a:spcPts val="0"/>
              </a:spcAft>
              <a:buClr>
                <a:srgbClr val="000000"/>
              </a:buClr>
              <a:buSzPts val="1100"/>
              <a:buFont typeface="Arial"/>
              <a:buNone/>
            </a:pPr>
            <a:r>
              <a:rPr i="0" lang="en-US" sz="1100" u="none" cap="none" strike="noStrike">
                <a:solidFill>
                  <a:srgbClr val="434343"/>
                </a:solidFill>
                <a:latin typeface="Roboto"/>
                <a:ea typeface="Roboto"/>
                <a:cs typeface="Roboto"/>
                <a:sym typeface="Roboto"/>
              </a:rPr>
              <a:t>Tăng tính cạnh tranh cho hồ sơ của bạn bằng chứng chỉ của Google.</a:t>
            </a:r>
            <a:endParaRPr i="0" sz="1100" u="none" cap="none" strike="noStrike">
              <a:solidFill>
                <a:srgbClr val="000000"/>
              </a:solidFill>
              <a:latin typeface="Roboto"/>
              <a:ea typeface="Roboto"/>
              <a:cs typeface="Roboto"/>
              <a:sym typeface="Roboto"/>
            </a:endParaRPr>
          </a:p>
        </p:txBody>
      </p:sp>
      <p:sp>
        <p:nvSpPr>
          <p:cNvPr id="60" name="Google Shape;60;p1"/>
          <p:cNvSpPr/>
          <p:nvPr/>
        </p:nvSpPr>
        <p:spPr>
          <a:xfrm>
            <a:off x="4916488" y="3821113"/>
            <a:ext cx="384175" cy="17462"/>
          </a:xfrm>
          <a:custGeom>
            <a:rect b="b" l="l" r="r" t="t"/>
            <a:pathLst>
              <a:path extrusionOk="0" h="17145" w="383539">
                <a:moveTo>
                  <a:pt x="18719" y="6616"/>
                </a:moveTo>
                <a:lnTo>
                  <a:pt x="18211" y="4965"/>
                </a:lnTo>
                <a:lnTo>
                  <a:pt x="16116" y="2209"/>
                </a:lnTo>
                <a:lnTo>
                  <a:pt x="13525" y="558"/>
                </a:lnTo>
                <a:lnTo>
                  <a:pt x="12484" y="0"/>
                </a:lnTo>
                <a:lnTo>
                  <a:pt x="6248" y="0"/>
                </a:lnTo>
                <a:lnTo>
                  <a:pt x="4686" y="558"/>
                </a:lnTo>
                <a:lnTo>
                  <a:pt x="2082" y="2209"/>
                </a:lnTo>
                <a:lnTo>
                  <a:pt x="520" y="4965"/>
                </a:lnTo>
                <a:lnTo>
                  <a:pt x="0" y="6616"/>
                </a:lnTo>
                <a:lnTo>
                  <a:pt x="0" y="10477"/>
                </a:lnTo>
                <a:lnTo>
                  <a:pt x="520" y="11582"/>
                </a:lnTo>
                <a:lnTo>
                  <a:pt x="2082" y="14325"/>
                </a:lnTo>
                <a:lnTo>
                  <a:pt x="4686" y="16522"/>
                </a:lnTo>
                <a:lnTo>
                  <a:pt x="6248" y="17081"/>
                </a:lnTo>
                <a:lnTo>
                  <a:pt x="12484" y="17081"/>
                </a:lnTo>
                <a:lnTo>
                  <a:pt x="13525" y="16522"/>
                </a:lnTo>
                <a:lnTo>
                  <a:pt x="16116" y="14325"/>
                </a:lnTo>
                <a:lnTo>
                  <a:pt x="18211" y="11582"/>
                </a:lnTo>
                <a:lnTo>
                  <a:pt x="18719" y="10477"/>
                </a:lnTo>
                <a:lnTo>
                  <a:pt x="18719" y="6616"/>
                </a:lnTo>
                <a:close/>
              </a:path>
              <a:path extrusionOk="0" h="17145" w="383539">
                <a:moveTo>
                  <a:pt x="64477" y="6616"/>
                </a:moveTo>
                <a:lnTo>
                  <a:pt x="63969" y="4965"/>
                </a:lnTo>
                <a:lnTo>
                  <a:pt x="62407" y="2209"/>
                </a:lnTo>
                <a:lnTo>
                  <a:pt x="59804" y="558"/>
                </a:lnTo>
                <a:lnTo>
                  <a:pt x="58254" y="0"/>
                </a:lnTo>
                <a:lnTo>
                  <a:pt x="49923" y="0"/>
                </a:lnTo>
                <a:lnTo>
                  <a:pt x="48361" y="558"/>
                </a:lnTo>
                <a:lnTo>
                  <a:pt x="45758" y="2209"/>
                </a:lnTo>
                <a:lnTo>
                  <a:pt x="43688" y="4965"/>
                </a:lnTo>
                <a:lnTo>
                  <a:pt x="43167" y="6616"/>
                </a:lnTo>
                <a:lnTo>
                  <a:pt x="43167" y="10477"/>
                </a:lnTo>
                <a:lnTo>
                  <a:pt x="43688" y="11582"/>
                </a:lnTo>
                <a:lnTo>
                  <a:pt x="45758" y="14325"/>
                </a:lnTo>
                <a:lnTo>
                  <a:pt x="48361" y="16522"/>
                </a:lnTo>
                <a:lnTo>
                  <a:pt x="49923" y="17081"/>
                </a:lnTo>
                <a:lnTo>
                  <a:pt x="58254" y="17081"/>
                </a:lnTo>
                <a:lnTo>
                  <a:pt x="59804" y="16522"/>
                </a:lnTo>
                <a:lnTo>
                  <a:pt x="62407" y="14325"/>
                </a:lnTo>
                <a:lnTo>
                  <a:pt x="63969" y="11582"/>
                </a:lnTo>
                <a:lnTo>
                  <a:pt x="64477" y="10477"/>
                </a:lnTo>
                <a:lnTo>
                  <a:pt x="64477" y="6616"/>
                </a:lnTo>
                <a:close/>
              </a:path>
              <a:path extrusionOk="0" h="17145" w="383539">
                <a:moveTo>
                  <a:pt x="110248" y="6616"/>
                </a:moveTo>
                <a:lnTo>
                  <a:pt x="109728" y="4965"/>
                </a:lnTo>
                <a:lnTo>
                  <a:pt x="108165" y="2209"/>
                </a:lnTo>
                <a:lnTo>
                  <a:pt x="105562" y="558"/>
                </a:lnTo>
                <a:lnTo>
                  <a:pt x="104013" y="0"/>
                </a:lnTo>
                <a:lnTo>
                  <a:pt x="95681" y="0"/>
                </a:lnTo>
                <a:lnTo>
                  <a:pt x="94119" y="558"/>
                </a:lnTo>
                <a:lnTo>
                  <a:pt x="91528" y="2209"/>
                </a:lnTo>
                <a:lnTo>
                  <a:pt x="89966" y="4965"/>
                </a:lnTo>
                <a:lnTo>
                  <a:pt x="88925" y="8267"/>
                </a:lnTo>
                <a:lnTo>
                  <a:pt x="89446" y="10477"/>
                </a:lnTo>
                <a:lnTo>
                  <a:pt x="89966" y="11582"/>
                </a:lnTo>
                <a:lnTo>
                  <a:pt x="91528" y="14325"/>
                </a:lnTo>
                <a:lnTo>
                  <a:pt x="94119" y="16522"/>
                </a:lnTo>
                <a:lnTo>
                  <a:pt x="95681" y="17081"/>
                </a:lnTo>
                <a:lnTo>
                  <a:pt x="104013" y="17081"/>
                </a:lnTo>
                <a:lnTo>
                  <a:pt x="105562" y="16522"/>
                </a:lnTo>
                <a:lnTo>
                  <a:pt x="108165" y="14325"/>
                </a:lnTo>
                <a:lnTo>
                  <a:pt x="109728" y="11582"/>
                </a:lnTo>
                <a:lnTo>
                  <a:pt x="110248" y="10477"/>
                </a:lnTo>
                <a:lnTo>
                  <a:pt x="110248" y="6616"/>
                </a:lnTo>
                <a:close/>
              </a:path>
              <a:path extrusionOk="0" h="17145" w="383539">
                <a:moveTo>
                  <a:pt x="156527" y="8267"/>
                </a:moveTo>
                <a:lnTo>
                  <a:pt x="155486" y="4965"/>
                </a:lnTo>
                <a:lnTo>
                  <a:pt x="153936" y="2209"/>
                </a:lnTo>
                <a:lnTo>
                  <a:pt x="151333" y="558"/>
                </a:lnTo>
                <a:lnTo>
                  <a:pt x="149771" y="0"/>
                </a:lnTo>
                <a:lnTo>
                  <a:pt x="141452" y="0"/>
                </a:lnTo>
                <a:lnTo>
                  <a:pt x="139890" y="558"/>
                </a:lnTo>
                <a:lnTo>
                  <a:pt x="137299" y="2209"/>
                </a:lnTo>
                <a:lnTo>
                  <a:pt x="135724" y="4965"/>
                </a:lnTo>
                <a:lnTo>
                  <a:pt x="135204" y="6616"/>
                </a:lnTo>
                <a:lnTo>
                  <a:pt x="135204" y="10477"/>
                </a:lnTo>
                <a:lnTo>
                  <a:pt x="135724" y="11582"/>
                </a:lnTo>
                <a:lnTo>
                  <a:pt x="137299" y="14325"/>
                </a:lnTo>
                <a:lnTo>
                  <a:pt x="139890" y="16522"/>
                </a:lnTo>
                <a:lnTo>
                  <a:pt x="141452" y="17081"/>
                </a:lnTo>
                <a:lnTo>
                  <a:pt x="149771" y="17081"/>
                </a:lnTo>
                <a:lnTo>
                  <a:pt x="156527" y="8267"/>
                </a:lnTo>
                <a:close/>
              </a:path>
              <a:path extrusionOk="0" h="17145" w="383539">
                <a:moveTo>
                  <a:pt x="202298" y="8267"/>
                </a:moveTo>
                <a:lnTo>
                  <a:pt x="201244" y="4965"/>
                </a:lnTo>
                <a:lnTo>
                  <a:pt x="199694" y="2209"/>
                </a:lnTo>
                <a:lnTo>
                  <a:pt x="197091" y="558"/>
                </a:lnTo>
                <a:lnTo>
                  <a:pt x="195529" y="0"/>
                </a:lnTo>
                <a:lnTo>
                  <a:pt x="187210" y="0"/>
                </a:lnTo>
                <a:lnTo>
                  <a:pt x="185661" y="558"/>
                </a:lnTo>
                <a:lnTo>
                  <a:pt x="183057" y="2209"/>
                </a:lnTo>
                <a:lnTo>
                  <a:pt x="181483" y="4965"/>
                </a:lnTo>
                <a:lnTo>
                  <a:pt x="180975" y="6616"/>
                </a:lnTo>
                <a:lnTo>
                  <a:pt x="180975" y="10477"/>
                </a:lnTo>
                <a:lnTo>
                  <a:pt x="181483" y="11582"/>
                </a:lnTo>
                <a:lnTo>
                  <a:pt x="183057" y="14325"/>
                </a:lnTo>
                <a:lnTo>
                  <a:pt x="185661" y="16522"/>
                </a:lnTo>
                <a:lnTo>
                  <a:pt x="187210" y="17081"/>
                </a:lnTo>
                <a:lnTo>
                  <a:pt x="195529" y="17081"/>
                </a:lnTo>
                <a:lnTo>
                  <a:pt x="202298" y="8267"/>
                </a:lnTo>
                <a:close/>
              </a:path>
              <a:path extrusionOk="0" h="17145" w="383539">
                <a:moveTo>
                  <a:pt x="248056" y="6616"/>
                </a:moveTo>
                <a:lnTo>
                  <a:pt x="247535" y="4965"/>
                </a:lnTo>
                <a:lnTo>
                  <a:pt x="245452" y="2209"/>
                </a:lnTo>
                <a:lnTo>
                  <a:pt x="242849" y="558"/>
                </a:lnTo>
                <a:lnTo>
                  <a:pt x="241287" y="0"/>
                </a:lnTo>
                <a:lnTo>
                  <a:pt x="232968" y="0"/>
                </a:lnTo>
                <a:lnTo>
                  <a:pt x="231419" y="558"/>
                </a:lnTo>
                <a:lnTo>
                  <a:pt x="228815" y="2209"/>
                </a:lnTo>
                <a:lnTo>
                  <a:pt x="227253" y="4965"/>
                </a:lnTo>
                <a:lnTo>
                  <a:pt x="226733" y="6616"/>
                </a:lnTo>
                <a:lnTo>
                  <a:pt x="226733" y="10477"/>
                </a:lnTo>
                <a:lnTo>
                  <a:pt x="227253" y="11582"/>
                </a:lnTo>
                <a:lnTo>
                  <a:pt x="228815" y="14325"/>
                </a:lnTo>
                <a:lnTo>
                  <a:pt x="231419" y="16522"/>
                </a:lnTo>
                <a:lnTo>
                  <a:pt x="232968" y="17081"/>
                </a:lnTo>
                <a:lnTo>
                  <a:pt x="241287" y="17081"/>
                </a:lnTo>
                <a:lnTo>
                  <a:pt x="242849" y="16522"/>
                </a:lnTo>
                <a:lnTo>
                  <a:pt x="245452" y="14325"/>
                </a:lnTo>
                <a:lnTo>
                  <a:pt x="247535" y="11582"/>
                </a:lnTo>
                <a:lnTo>
                  <a:pt x="248056" y="10477"/>
                </a:lnTo>
                <a:lnTo>
                  <a:pt x="248056" y="6616"/>
                </a:lnTo>
                <a:close/>
              </a:path>
              <a:path extrusionOk="0" h="17145" w="383539">
                <a:moveTo>
                  <a:pt x="293814" y="6616"/>
                </a:moveTo>
                <a:lnTo>
                  <a:pt x="293293" y="4965"/>
                </a:lnTo>
                <a:lnTo>
                  <a:pt x="291211" y="2209"/>
                </a:lnTo>
                <a:lnTo>
                  <a:pt x="289140" y="558"/>
                </a:lnTo>
                <a:lnTo>
                  <a:pt x="287578" y="0"/>
                </a:lnTo>
                <a:lnTo>
                  <a:pt x="279247" y="0"/>
                </a:lnTo>
                <a:lnTo>
                  <a:pt x="277698" y="558"/>
                </a:lnTo>
                <a:lnTo>
                  <a:pt x="275094" y="2209"/>
                </a:lnTo>
                <a:lnTo>
                  <a:pt x="273024" y="4965"/>
                </a:lnTo>
                <a:lnTo>
                  <a:pt x="272491" y="6616"/>
                </a:lnTo>
                <a:lnTo>
                  <a:pt x="272491" y="10477"/>
                </a:lnTo>
                <a:lnTo>
                  <a:pt x="273024" y="11582"/>
                </a:lnTo>
                <a:lnTo>
                  <a:pt x="275094" y="14325"/>
                </a:lnTo>
                <a:lnTo>
                  <a:pt x="277698" y="16522"/>
                </a:lnTo>
                <a:lnTo>
                  <a:pt x="279247" y="17081"/>
                </a:lnTo>
                <a:lnTo>
                  <a:pt x="287578" y="17081"/>
                </a:lnTo>
                <a:lnTo>
                  <a:pt x="289140" y="16522"/>
                </a:lnTo>
                <a:lnTo>
                  <a:pt x="291211" y="14325"/>
                </a:lnTo>
                <a:lnTo>
                  <a:pt x="293293" y="11582"/>
                </a:lnTo>
                <a:lnTo>
                  <a:pt x="293814" y="10477"/>
                </a:lnTo>
                <a:lnTo>
                  <a:pt x="293814" y="6616"/>
                </a:lnTo>
                <a:close/>
              </a:path>
              <a:path extrusionOk="0" h="17145" w="383539">
                <a:moveTo>
                  <a:pt x="339572" y="6616"/>
                </a:moveTo>
                <a:lnTo>
                  <a:pt x="339064" y="4965"/>
                </a:lnTo>
                <a:lnTo>
                  <a:pt x="337502" y="2209"/>
                </a:lnTo>
                <a:lnTo>
                  <a:pt x="334899" y="558"/>
                </a:lnTo>
                <a:lnTo>
                  <a:pt x="333336" y="0"/>
                </a:lnTo>
                <a:lnTo>
                  <a:pt x="325018" y="0"/>
                </a:lnTo>
                <a:lnTo>
                  <a:pt x="323456" y="558"/>
                </a:lnTo>
                <a:lnTo>
                  <a:pt x="320852" y="2209"/>
                </a:lnTo>
                <a:lnTo>
                  <a:pt x="318782" y="4965"/>
                </a:lnTo>
                <a:lnTo>
                  <a:pt x="318262" y="6616"/>
                </a:lnTo>
                <a:lnTo>
                  <a:pt x="318262" y="10477"/>
                </a:lnTo>
                <a:lnTo>
                  <a:pt x="318782" y="11582"/>
                </a:lnTo>
                <a:lnTo>
                  <a:pt x="320852" y="14325"/>
                </a:lnTo>
                <a:lnTo>
                  <a:pt x="323456" y="16522"/>
                </a:lnTo>
                <a:lnTo>
                  <a:pt x="325018" y="17081"/>
                </a:lnTo>
                <a:lnTo>
                  <a:pt x="333336" y="17081"/>
                </a:lnTo>
                <a:lnTo>
                  <a:pt x="334899" y="16522"/>
                </a:lnTo>
                <a:lnTo>
                  <a:pt x="337502" y="14325"/>
                </a:lnTo>
                <a:lnTo>
                  <a:pt x="339064" y="11582"/>
                </a:lnTo>
                <a:lnTo>
                  <a:pt x="339572" y="10477"/>
                </a:lnTo>
                <a:lnTo>
                  <a:pt x="339572" y="6616"/>
                </a:lnTo>
                <a:close/>
              </a:path>
              <a:path extrusionOk="0" h="17145" w="383539">
                <a:moveTo>
                  <a:pt x="383260" y="8267"/>
                </a:moveTo>
                <a:lnTo>
                  <a:pt x="382739" y="6616"/>
                </a:lnTo>
                <a:lnTo>
                  <a:pt x="382739" y="4965"/>
                </a:lnTo>
                <a:lnTo>
                  <a:pt x="380657" y="2209"/>
                </a:lnTo>
                <a:lnTo>
                  <a:pt x="378053" y="558"/>
                </a:lnTo>
                <a:lnTo>
                  <a:pt x="376504" y="0"/>
                </a:lnTo>
                <a:lnTo>
                  <a:pt x="370789" y="0"/>
                </a:lnTo>
                <a:lnTo>
                  <a:pt x="369227" y="558"/>
                </a:lnTo>
                <a:lnTo>
                  <a:pt x="366623" y="2209"/>
                </a:lnTo>
                <a:lnTo>
                  <a:pt x="365061" y="4965"/>
                </a:lnTo>
                <a:lnTo>
                  <a:pt x="364020" y="8267"/>
                </a:lnTo>
                <a:lnTo>
                  <a:pt x="364540" y="10477"/>
                </a:lnTo>
                <a:lnTo>
                  <a:pt x="365061" y="11582"/>
                </a:lnTo>
                <a:lnTo>
                  <a:pt x="366623" y="14325"/>
                </a:lnTo>
                <a:lnTo>
                  <a:pt x="369227" y="16522"/>
                </a:lnTo>
                <a:lnTo>
                  <a:pt x="370789" y="17081"/>
                </a:lnTo>
                <a:lnTo>
                  <a:pt x="376504" y="17081"/>
                </a:lnTo>
                <a:lnTo>
                  <a:pt x="378053" y="16522"/>
                </a:lnTo>
                <a:lnTo>
                  <a:pt x="380657" y="14325"/>
                </a:lnTo>
                <a:lnTo>
                  <a:pt x="382739" y="11582"/>
                </a:lnTo>
                <a:lnTo>
                  <a:pt x="382739" y="10477"/>
                </a:lnTo>
                <a:lnTo>
                  <a:pt x="383260" y="8267"/>
                </a:lnTo>
                <a:close/>
              </a:path>
            </a:pathLst>
          </a:custGeom>
          <a:solidFill>
            <a:srgbClr val="18191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61" name="Google Shape;61;p1"/>
          <p:cNvGrpSpPr/>
          <p:nvPr/>
        </p:nvGrpSpPr>
        <p:grpSpPr>
          <a:xfrm>
            <a:off x="2351088" y="3541713"/>
            <a:ext cx="2765325" cy="1221874"/>
            <a:chOff x="2350531" y="3541302"/>
            <a:chExt cx="2766595" cy="1221874"/>
          </a:xfrm>
        </p:grpSpPr>
        <p:sp>
          <p:nvSpPr>
            <p:cNvPr id="62" name="Google Shape;62;p1"/>
            <p:cNvSpPr/>
            <p:nvPr/>
          </p:nvSpPr>
          <p:spPr>
            <a:xfrm>
              <a:off x="4734856" y="3747334"/>
              <a:ext cx="382270" cy="17780"/>
            </a:xfrm>
            <a:custGeom>
              <a:rect b="b" l="l" r="r" t="t"/>
              <a:pathLst>
                <a:path extrusionOk="0" h="17779" w="382270">
                  <a:moveTo>
                    <a:pt x="382217" y="17624"/>
                  </a:moveTo>
                  <a:lnTo>
                    <a:pt x="0" y="17624"/>
                  </a:lnTo>
                  <a:lnTo>
                    <a:pt x="0" y="0"/>
                  </a:lnTo>
                  <a:lnTo>
                    <a:pt x="382217" y="0"/>
                  </a:lnTo>
                  <a:lnTo>
                    <a:pt x="382217" y="17624"/>
                  </a:lnTo>
                  <a:close/>
                </a:path>
              </a:pathLst>
            </a:custGeom>
            <a:solidFill>
              <a:srgbClr val="18191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 name="Google Shape;63;p1"/>
            <p:cNvSpPr/>
            <p:nvPr/>
          </p:nvSpPr>
          <p:spPr>
            <a:xfrm>
              <a:off x="4524235" y="3942359"/>
              <a:ext cx="264795" cy="361950"/>
            </a:xfrm>
            <a:custGeom>
              <a:rect b="b" l="l" r="r" t="t"/>
              <a:pathLst>
                <a:path extrusionOk="0" h="361950" w="264795">
                  <a:moveTo>
                    <a:pt x="99326" y="0"/>
                  </a:moveTo>
                  <a:lnTo>
                    <a:pt x="0" y="0"/>
                  </a:lnTo>
                  <a:lnTo>
                    <a:pt x="0" y="361937"/>
                  </a:lnTo>
                  <a:lnTo>
                    <a:pt x="99326" y="361937"/>
                  </a:lnTo>
                  <a:lnTo>
                    <a:pt x="99326" y="0"/>
                  </a:lnTo>
                  <a:close/>
                </a:path>
                <a:path extrusionOk="0" h="361950" w="264795">
                  <a:moveTo>
                    <a:pt x="264693" y="155346"/>
                  </a:moveTo>
                  <a:lnTo>
                    <a:pt x="164858" y="155346"/>
                  </a:lnTo>
                  <a:lnTo>
                    <a:pt x="164858" y="361937"/>
                  </a:lnTo>
                  <a:lnTo>
                    <a:pt x="264693" y="361937"/>
                  </a:lnTo>
                  <a:lnTo>
                    <a:pt x="264693" y="155346"/>
                  </a:lnTo>
                  <a:close/>
                </a:path>
              </a:pathLst>
            </a:custGeom>
            <a:solidFill>
              <a:srgbClr val="FABB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 name="Google Shape;64;p1"/>
            <p:cNvSpPr/>
            <p:nvPr/>
          </p:nvSpPr>
          <p:spPr>
            <a:xfrm>
              <a:off x="3190379" y="3541302"/>
              <a:ext cx="16510" cy="394335"/>
            </a:xfrm>
            <a:custGeom>
              <a:rect b="b" l="l" r="r" t="t"/>
              <a:pathLst>
                <a:path extrusionOk="0" h="394335" w="16510">
                  <a:moveTo>
                    <a:pt x="16120" y="393883"/>
                  </a:moveTo>
                  <a:lnTo>
                    <a:pt x="0" y="393883"/>
                  </a:lnTo>
                  <a:lnTo>
                    <a:pt x="0" y="0"/>
                  </a:lnTo>
                  <a:lnTo>
                    <a:pt x="16120" y="0"/>
                  </a:lnTo>
                  <a:lnTo>
                    <a:pt x="16120" y="393883"/>
                  </a:lnTo>
                  <a:close/>
                </a:path>
              </a:pathLst>
            </a:custGeom>
            <a:solidFill>
              <a:srgbClr val="EA433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65" name="Google Shape;65;p1"/>
            <p:cNvPicPr preferRelativeResize="0"/>
            <p:nvPr/>
          </p:nvPicPr>
          <p:blipFill rotWithShape="1">
            <a:blip r:embed="rId5">
              <a:alphaModFix/>
            </a:blip>
            <a:srcRect b="0" l="0" r="0" t="0"/>
            <a:stretch/>
          </p:blipFill>
          <p:spPr>
            <a:xfrm>
              <a:off x="3150852" y="3751740"/>
              <a:ext cx="91521" cy="96954"/>
            </a:xfrm>
            <a:prstGeom prst="rect">
              <a:avLst/>
            </a:prstGeom>
            <a:noFill/>
            <a:ln>
              <a:noFill/>
            </a:ln>
          </p:spPr>
        </p:pic>
        <p:pic>
          <p:nvPicPr>
            <p:cNvPr id="66" name="Google Shape;66;p1"/>
            <p:cNvPicPr preferRelativeResize="0"/>
            <p:nvPr/>
          </p:nvPicPr>
          <p:blipFill rotWithShape="1">
            <a:blip r:embed="rId6">
              <a:alphaModFix/>
            </a:blip>
            <a:srcRect b="0" l="0" r="0" t="0"/>
            <a:stretch/>
          </p:blipFill>
          <p:spPr>
            <a:xfrm>
              <a:off x="2978201" y="3698311"/>
              <a:ext cx="91531" cy="96954"/>
            </a:xfrm>
            <a:prstGeom prst="rect">
              <a:avLst/>
            </a:prstGeom>
            <a:noFill/>
            <a:ln>
              <a:noFill/>
            </a:ln>
          </p:spPr>
        </p:pic>
        <p:pic>
          <p:nvPicPr>
            <p:cNvPr id="67" name="Google Shape;67;p1"/>
            <p:cNvPicPr preferRelativeResize="0"/>
            <p:nvPr/>
          </p:nvPicPr>
          <p:blipFill rotWithShape="1">
            <a:blip r:embed="rId7">
              <a:alphaModFix/>
            </a:blip>
            <a:srcRect b="0" l="0" r="0" t="0"/>
            <a:stretch/>
          </p:blipFill>
          <p:spPr>
            <a:xfrm>
              <a:off x="2350531" y="3541302"/>
              <a:ext cx="2441521" cy="1221874"/>
            </a:xfrm>
            <a:prstGeom prst="rect">
              <a:avLst/>
            </a:prstGeom>
            <a:noFill/>
            <a:ln>
              <a:noFill/>
            </a:ln>
          </p:spPr>
        </p:pic>
        <p:sp>
          <p:nvSpPr>
            <p:cNvPr id="68" name="Google Shape;68;p1"/>
            <p:cNvSpPr/>
            <p:nvPr/>
          </p:nvSpPr>
          <p:spPr>
            <a:xfrm>
              <a:off x="3015644" y="3541302"/>
              <a:ext cx="16510" cy="394335"/>
            </a:xfrm>
            <a:custGeom>
              <a:rect b="b" l="l" r="r" t="t"/>
              <a:pathLst>
                <a:path extrusionOk="0" h="394335" w="16510">
                  <a:moveTo>
                    <a:pt x="16120" y="393883"/>
                  </a:moveTo>
                  <a:lnTo>
                    <a:pt x="0" y="393883"/>
                  </a:lnTo>
                  <a:lnTo>
                    <a:pt x="0" y="0"/>
                  </a:lnTo>
                  <a:lnTo>
                    <a:pt x="16120" y="0"/>
                  </a:lnTo>
                  <a:lnTo>
                    <a:pt x="16120" y="393883"/>
                  </a:lnTo>
                  <a:close/>
                </a:path>
              </a:pathLst>
            </a:custGeom>
            <a:solidFill>
              <a:srgbClr val="EA433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69" name="Google Shape;69;p1"/>
            <p:cNvPicPr preferRelativeResize="0"/>
            <p:nvPr/>
          </p:nvPicPr>
          <p:blipFill rotWithShape="1">
            <a:blip r:embed="rId8">
              <a:alphaModFix/>
            </a:blip>
            <a:srcRect b="0" l="0" r="0" t="0"/>
            <a:stretch/>
          </p:blipFill>
          <p:spPr>
            <a:xfrm>
              <a:off x="2801391" y="3792510"/>
              <a:ext cx="91532" cy="96953"/>
            </a:xfrm>
            <a:prstGeom prst="rect">
              <a:avLst/>
            </a:prstGeom>
            <a:noFill/>
            <a:ln>
              <a:noFill/>
            </a:ln>
          </p:spPr>
        </p:pic>
        <p:sp>
          <p:nvSpPr>
            <p:cNvPr id="70" name="Google Shape;70;p1"/>
            <p:cNvSpPr/>
            <p:nvPr/>
          </p:nvSpPr>
          <p:spPr>
            <a:xfrm>
              <a:off x="2839360" y="3541302"/>
              <a:ext cx="16510" cy="394335"/>
            </a:xfrm>
            <a:custGeom>
              <a:rect b="b" l="l" r="r" t="t"/>
              <a:pathLst>
                <a:path extrusionOk="0" h="394335" w="16510">
                  <a:moveTo>
                    <a:pt x="16120" y="393883"/>
                  </a:moveTo>
                  <a:lnTo>
                    <a:pt x="0" y="393883"/>
                  </a:lnTo>
                  <a:lnTo>
                    <a:pt x="0" y="0"/>
                  </a:lnTo>
                  <a:lnTo>
                    <a:pt x="16120" y="0"/>
                  </a:lnTo>
                  <a:lnTo>
                    <a:pt x="16120" y="393883"/>
                  </a:lnTo>
                  <a:close/>
                </a:path>
              </a:pathLst>
            </a:custGeom>
            <a:solidFill>
              <a:srgbClr val="EA433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71" name="Google Shape;71;p1"/>
            <p:cNvPicPr preferRelativeResize="0"/>
            <p:nvPr/>
          </p:nvPicPr>
          <p:blipFill rotWithShape="1">
            <a:blip r:embed="rId9">
              <a:alphaModFix/>
            </a:blip>
            <a:srcRect b="0" l="0" r="0" t="0"/>
            <a:stretch/>
          </p:blipFill>
          <p:spPr>
            <a:xfrm>
              <a:off x="4899179" y="4460736"/>
              <a:ext cx="133649" cy="141582"/>
            </a:xfrm>
            <a:prstGeom prst="rect">
              <a:avLst/>
            </a:prstGeom>
            <a:noFill/>
            <a:ln>
              <a:noFill/>
            </a:ln>
          </p:spPr>
        </p:pic>
      </p:grpSp>
      <p:sp>
        <p:nvSpPr>
          <p:cNvPr id="72" name="Google Shape;72;p1"/>
          <p:cNvSpPr/>
          <p:nvPr/>
        </p:nvSpPr>
        <p:spPr>
          <a:xfrm>
            <a:off x="5019675" y="4083050"/>
            <a:ext cx="100013" cy="222250"/>
          </a:xfrm>
          <a:custGeom>
            <a:rect b="b" l="l" r="r" t="t"/>
            <a:pathLst>
              <a:path extrusionOk="0" h="222250" w="99695">
                <a:moveTo>
                  <a:pt x="99323" y="222006"/>
                </a:moveTo>
                <a:lnTo>
                  <a:pt x="0" y="222006"/>
                </a:lnTo>
                <a:lnTo>
                  <a:pt x="0" y="0"/>
                </a:lnTo>
                <a:lnTo>
                  <a:pt x="99323" y="0"/>
                </a:lnTo>
                <a:lnTo>
                  <a:pt x="99323" y="222006"/>
                </a:lnTo>
                <a:close/>
              </a:path>
            </a:pathLst>
          </a:custGeom>
          <a:solidFill>
            <a:srgbClr val="FABB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3" name="Google Shape;73;p1"/>
          <p:cNvSpPr/>
          <p:nvPr/>
        </p:nvSpPr>
        <p:spPr>
          <a:xfrm>
            <a:off x="4854575" y="4016375"/>
            <a:ext cx="100013" cy="287338"/>
          </a:xfrm>
          <a:custGeom>
            <a:rect b="b" l="l" r="r" t="t"/>
            <a:pathLst>
              <a:path extrusionOk="0" h="288289" w="99695">
                <a:moveTo>
                  <a:pt x="99323" y="288117"/>
                </a:moveTo>
                <a:lnTo>
                  <a:pt x="0" y="288117"/>
                </a:lnTo>
                <a:lnTo>
                  <a:pt x="0" y="0"/>
                </a:lnTo>
                <a:lnTo>
                  <a:pt x="99323" y="0"/>
                </a:lnTo>
                <a:lnTo>
                  <a:pt x="99323" y="288117"/>
                </a:lnTo>
                <a:close/>
              </a:path>
            </a:pathLst>
          </a:custGeom>
          <a:solidFill>
            <a:srgbClr val="FABB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4" name="Google Shape;74;p1"/>
          <p:cNvSpPr txBox="1"/>
          <p:nvPr/>
        </p:nvSpPr>
        <p:spPr>
          <a:xfrm>
            <a:off x="2044874" y="3154282"/>
            <a:ext cx="3657600" cy="323165"/>
          </a:xfrm>
          <a:prstGeom prst="rect">
            <a:avLst/>
          </a:prstGeom>
          <a:noFill/>
          <a:ln>
            <a:noFill/>
          </a:ln>
        </p:spPr>
        <p:txBody>
          <a:bodyPr anchorCtr="0" anchor="t" bIns="45700" lIns="91425" spcFirstLastPara="1" rIns="91425" wrap="square" tIns="45700">
            <a:spAutoFit/>
          </a:bodyPr>
          <a:lstStyle/>
          <a:p>
            <a:pPr indent="0" lvl="0" marL="20320" marR="0" rtl="0" algn="ctr">
              <a:lnSpc>
                <a:spcPct val="100000"/>
              </a:lnSpc>
              <a:spcBef>
                <a:spcPts val="0"/>
              </a:spcBef>
              <a:spcAft>
                <a:spcPts val="0"/>
              </a:spcAft>
              <a:buClr>
                <a:srgbClr val="4285F4"/>
              </a:buClr>
              <a:buSzPts val="1500"/>
              <a:buFont typeface="Calibri"/>
              <a:buNone/>
            </a:pPr>
            <a:r>
              <a:rPr b="1" i="0" lang="en-US" sz="1500" u="none" cap="none" strike="noStrike">
                <a:solidFill>
                  <a:srgbClr val="4285F4"/>
                </a:solidFill>
                <a:latin typeface="Roboto"/>
                <a:ea typeface="Roboto"/>
                <a:cs typeface="Roboto"/>
                <a:sym typeface="Roboto"/>
              </a:rPr>
              <a:t>Phân tích dữ liệu nâng cao là gì?</a:t>
            </a:r>
            <a:endParaRPr b="1" i="0" sz="1500" u="none" cap="none" strike="noStrike">
              <a:solidFill>
                <a:srgbClr val="000000"/>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285F4"/>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